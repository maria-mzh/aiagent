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秒：直接说明本次汇报要拿到的三个决定——同意立项、批准 V1 预算、指定接口人。不绕弯子。全程 30 分钟：Why now 5 分钟 → What 5 分钟 → How 7 分钟 → How much 4 分钟 → Risk 3 分钟 → Ask 4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 Sponsor 唯一一定看完的一页，三个数字必须是最强论据（待填项 #1：覆盖 OPC 数 / 撬动比 / 政策红利规模，责任方：运营 + 财务）。⚠️ 不要在这页讲功能。核心论点：我们要建的不是又一个社区网站，是 OPC 超级个体的数字基础设施。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分钟。把政策金额与窗口期绑定，制造紧迫感：政策有有效期与年度额度，晚一年做，红利少一年；补贴额度不用就作废。来源：大高管规发〔2026〕1号。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分钟。六地为网络调研，不要口头说成实地考察。权威数据：复旦团队《2026 中国 OPC 调研报告》（新华社 2026-07 发布）——全国 426 个社区（28 省 65 城），东北仅 8 个占 1.9%，大连是卡位不是跟风。若 Sponsor 引用 618 个的口径：两个口径统计范围不同（是否含在建），我们采用可核验的复旦口径，无论哪个口径东北都是个位数占比。若被反问「东北是不是不成立」：①1.9% 是供给缺口不是需求缺口；②大连政策发布当天即有 11 位创业者入驻——给载体人就来；③供给稀缺，先建者拿标准话语权（网信办征求意见稿第十七条）。复旦报告原话「从给工位、重补贴，走向给订单、建生态」正是本平台定位。「五件套」是我方归纳，复旦口径为「政策工具同质化、重建设轻运营」。竞品对比表见附录 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0.5 分钟。Sponsor 对「错过」的恐惧 &gt; 对「花钱」的恐惧。三点：优质 OPC 被吸走；补贴额度每年作废；成都双流已由园区统筹链主场景、揭榜挂帅派单给 OPC——组织订单这一步别人已经跑起来了，此消彼长。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分钟。这一页是 Why Now 的收官，回答「平台凭什么成为竞争力」：双边合作卡在信任上，而信任只能做成基础设施。企业侧三不敢（不敢交 / 不敢信 / 不敢付），OPC 侧三难（接不到 / 扛不住 / 接错单）——两侧根源是同一个：资质不可核验、履约不可携带、资金无保障。下一页的「信用基础设施」定位就是这一页的答案。与后面两处呼应：P11 信用双模型（解法的对称设计）、P14 违约处置（「项目烂在原地无人负责」的解法）。素材出处：PRD §1.2 问题陈述 + 复旦报告一线访谈（新华社发布）。口径提醒：六地为网络调研。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分钟。定位：面向 OPC 超级个体的 AI 原生撮合与信用基础设施。一页看懂全貌即可，领域模型细节放附录 A，不要展开讲。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最关键的一页，务必讲透（1.5 分钟）。话术：这个平台分两层。下面这层——入驻、认证、信用——是公共品，建议由园区背书，不盈利。因为信用体系一旦赚钱，规则的公正性就没人信了，体系立刻失效。上面这层——撮合、词元交易、增值服务——是商业的，由运营方市场化运作，不需要财政持续投入。财政的钱只花在公共品上，而且是一次性建设投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分钟。强调最小可用路径，不是全量。V1 只验证一条闭环：入驻 → 投标 → 交付 → 结算 → 信用。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分钟。★ 赢得信任的一页。话术：「不做清单」比「要做清单」更能说明我们想清楚了。政府项目最怕范围失控，这页直接回应。注意：平台总包不是砍掉，是放到 V3。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最聪明的设计，2 分钟。这页展示设计深度，是「我们想得比别人深」的证明。话术：OPC 是一人公司，抗风险极弱，一次拖款就可能压垮他。保护 OPC 不是慈善，是保住平台的优质供给。关键洞察：付款维度强依赖资金托管 → 反向论证了应该上分账托管。被追问细节时，跳转附录 B（乙方模型与共用底座）/ 附录 C（甲方模型与博弈设计）。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政府最关心，2 分钟。直接回应「会不会出事」。话术：这不是障碍，是护城河。大部分平台不懂这条线会踩雷，我们已规避，而且别人抄要重做架构。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分钟。政府关心数字经济的先进性，这页对接政策话语体系。话术：Agent 定位纠偏本身就是设计成熟度的体现——行业里很多平台在给 Agent 建信用，那是给工具建信用，是错的。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1.5 分钟，V1 P0 范围（FU-12–14，PRD §4.3.1）。这是对 P2 痛点「企业不敢把活交给一个人」的正面解法。三句话讲透：① 四类违约全部客观触发器认定，不靠人盯；② 违约金只对未释放托管余额执行——平台零截留，合规人设不破；③ 善后 T+7：证据封存 → 结构化移交 → 发包方一键重发，最快止损。主动申报减半 vs 失联全额是激励核心：让 OPC 尽早披露，发包方越早止损——企业最痛的不是有人违约，是项目烂在原地无人负责。默认参数（宽限 3 天 / 失联 7 天 / 申诉 7 天）后台全部可配（AS-8）。追问「违约金不够赔怎么办」：执行边界就是托管余额，超出部分由发包方走争议裁决凭证据主张——宁可少赔，必须可执行。追问「为什么不收保证金」：对冷启动期供给端是纯摩擦，托管扣款 + 资格冻结已覆盖对抗需求（SO-09 维持 V2）。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分钟。回应双边市场鸡生蛋的质疑：园区/政府场景导入首批订单（对齐政策第四条：公共数据开放 + 场景建设 35% 补贴）；公开竞标为主 + 定向邀标并行；前 N 单强制托管（信用冷启动）。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0.5 分钟。V3 是终局想象力——其前提（园区能组织订单供给）已在成都双流芯谷公开跑通（链主场景清单 + 揭榜挂帅派单）。V3 平台总包：平台作合同主体向企业签约、全额开票、承担交付责任，再分包给 OPC——根本规避二清，同时解决两个死结。把合同主体移到平台，是我们区别于双流的设计创新；实际签约/开票主体待向运营方核实（X11），核实前不说「总包已被验证」。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分钟。⚠️ 不要给拍脑袋的数字，给框架 + 量级区间。话术：金额我们按模块、人力、工期、非人力成本四个维度拆，目前研发侧正在精确估算，今天先汇报框架和量级。等保测评是政府项目硬成本，别漏。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政府核心指标，1.5 分钟。话术：这个平台的价值不在于它自己赚多少钱，在于它撬动了多少 OPC 的产值和税收。三档测算数字由财务填报（待填项 #5）。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分钟。给不烂尾的证据：分期投入、可逆性、明确里程碑。V1 上线时间待研发排期后填入（待填项 #6）。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分钟。Risk 段把合规放第一位。逐行讲缓解措施，强调每一项都有对应架构或机制，不是口号。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单独一页，1.5 分钟。直接回应「会不会被叫停」。话术：我们把合规做成了架构，不是做成了补丁。预充值余额的预付卡口径已列入法务确认（X1）。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分钟。政府 Sponsor 手里最有价值的是场景与数据，别只谈钱。法人主体确认（A1）影响合规与分账准入。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让 Sponsor 共担责任，1.5 分钟。话术：这 6 项定下来，V1 就能开工。其中 A1 和 X2 需要园区层面协助。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分钟。与关键里程碑页呼应：每个节点都有明确、可检查的交付物。收尾时再次回到三个决定。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备查页。Credit 是横切内核：其他上下文通过领域事件向其投递贡献记录，Credit 不反向依赖任何业务上下文。虚线框三页为预留上下文：Contract 支撑四流一致与违约处置、OpsConsole 承载生态看板与企业画像、OpenPlatform 为接口预留。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备查页。三层结构：积分（append-only 账本，纯荣誉型）→ 信用分（0–1000，180 天半衰期，算法公开可解释）→ 认证等级（T0–T4）。两套模型（乙方/甲方）共用同一套计算引擎与账本基础设施。乙方权重：冷启动期重学习成长，成熟期向交付履约倾斜。权益映射是纯荣誉型的关键补偿设计——驱动力来自权限与身份，不是兑换。女巫抵抗：R1–R3 实名分级 + 四类反作弊规则。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备查页。为什么必须有：只给乙方建信用是「不对称缺陷」，会直接导致柠檬市场（论证见正文 P10）。甲方权重集中在付款与验收——OPC 最关心的两件事。争议败诉率是最客观的单一指标（平台裁决结果，非主观评价），单列展示。冷启动：外部数据注册即出初始信用；前 N 单（默认 3）强制里程碑托管 + 预付款。博弈缓解核心：双向盲评 + 只统计真实资金流已完结订单。关键约束：付款维度数据只能来自结算链路——资金托管同时是甲方信用的数据基础设施，这是「应上分账托管」的又一论证。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备查页。被追问「积分和考核什么关系」时使用。核心一句话：积分管日常（过程考核：连续、自动、量化），考核管底线（资格复核：低频、制度性、带程序）。三个设计决策：① 单一分数源——考核以信用分为主输入（+ 活跃度 + 合规负面），不建并行打分，两套分数必然互相矛盾，规则公信力崩塌；② 处置分层——限权 / 限单由 CR-05 降级自然实现，考核制度独有「限期整改 / 清退」两个重动作；③ 节奏分工——V1 起信用自动升降级即事实上的持续考核，制度性考核（ID-10–13）V2 上线，前置条件是 B3（周期 / 指标 / 清退条件）拍板。举例：半年不接单 → 分数自然衰减降级，是激励惩罚但不清退；刷分 → 扣分降级；涉违法 → 跳过周期直接条件清退。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备查页。六地：大连/北京/成都/杭州/重庆/威海。共性五件套都有，三大通病没人解。成都双流芯谷已有平台总包实践。现场可补充竞品截图（待填项 #7，运营）。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备查页。被追问合规细节时引用。完整法务意见见 X1–X10 外部确认清单。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备查页。被追问「园区能得到什么数据」时使用。OpsConsole 是园区侧的风控抓手与数据出口，不是项目管理 SaaS（J4 已定）。四个数据服务：生态看板（对标成功指标自动出数）、双侧企业画像（OPC 聚合档案 + 发包方 SO-11 完整档案）、匿名行业趋势（落 D17 决议）、财务统计与撬动比。隐私边界按 D17：运营 / 财务 / 合规全局可见；OPC 与甲方互不可见对方完整项目；OPC 可见自己全部 + 匿名趋势。撬动比口径待 X10 财务确认。对 Sponsor 的话术：财政投入换来「可度量的生态」——撬动比不靠手工报数，平台自动出数。V1 数据地基已留全（交易 / 结算 / 信用 / Token 四类台账），V2 摘果子。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备查页。被追问「平台支持什么收费方式」时使用。口径（D19 决策）：V1 撮合只做项目制计费——与大连政府采购冷启动场景、本地 OPC 主流形态一致；订阅制是市场调研中 OPC 提及最多的收费模式，字段 V1 已预留（计费方式 / 计费周期 / 续费条款 / 自动续费标志），完整能力 V2 落地（FU-16），续费率随同纳入信用维度。措辞纪律：WAIC 报告两口径并述（提及 75 次 / 团队占比 44%），占比不等于收入结构，不得用 44% 论证本地需求；证据强度两星（原报告 PDF 待终核）。不与「平台自身向 B 端售卖订阅 / 会员」混同（A4 / B4 待定）。明确不做：佣金抽成 / 带货分销、C 端知识付费漏斗、广告模式。前置：X14 自动续费合规口径、C6 订阅争议规则随 FU-16 拍板。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收尾：回到三个决定——同意立项、批准 V1 预算、指定接口人。留下承诺：三项定下来，30 天内交出第一份可检查的进展。然后开放问答（Q&amp;A 要点见汇报脚本第五节）。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98448"/>
            <a:ext cx="384048" cy="384048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12984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 目 立 项 汇 报 · SPONSOR 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11247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33101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8E1E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 AI 原生时代的超级个体数字基础设施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4315968"/>
            <a:ext cx="237744" cy="237744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42611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同意立项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4315968"/>
            <a:ext cx="237744" cy="237744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10" name="Text 8"/>
          <p:cNvSpPr/>
          <p:nvPr/>
        </p:nvSpPr>
        <p:spPr>
          <a:xfrm>
            <a:off x="3182112" y="42611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批准 V1 预算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12080" y="4315968"/>
            <a:ext cx="237744" cy="237744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12" name="Text 10"/>
          <p:cNvSpPr/>
          <p:nvPr/>
        </p:nvSpPr>
        <p:spPr>
          <a:xfrm>
            <a:off x="5559552" y="42611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指定接口人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77316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今天的汇报，希望当场拿到这三个决定。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742432"/>
            <a:ext cx="11274552" cy="0"/>
          </a:xfrm>
          <a:prstGeom prst="line">
            <a:avLst/>
          </a:prstGeom>
          <a:noFill/>
          <a:ln w="9525">
            <a:solidFill>
              <a:srgbClr val="3A54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943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2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236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XXX（占位）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5943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2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汇报对象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6236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XX 园区管委会 / 政府主管部门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38160" y="5943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2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· 版本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8160" y="6236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9 月 · 对齐 PRD v0.4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EXECUTIVE SUMMARY · 一页纸摘要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一页纸摘要：三个数字，一个判断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33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572768"/>
            <a:ext cx="11274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我们要建的不是又一个社区网站，</a:t>
            </a:r>
            <a:endParaRPr lang="en-US" sz="2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 OPC 超级个体的数字基础设施。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3483864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C09A50"/>
            </a:solidFill>
            <a:prstDash val="dash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321868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 OPC 数量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3602736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首年 / 三年入驻目标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422452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 填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85800" y="486460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汇报前填入 · 运营 + 财务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52544" y="3017520"/>
            <a:ext cx="3483864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C09A50"/>
            </a:solidFill>
            <a:prstDash val="dash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81144" y="321868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撬动比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81144" y="3602736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元财政投入撬动的社会资本 + 税收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81144" y="422452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 填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581144" y="486460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汇报前填入 · 财务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47888" y="3017520"/>
            <a:ext cx="3483864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C09A50"/>
            </a:solidFill>
            <a:prstDash val="dash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476488" y="321868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政策红利规模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476488" y="3602736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大高管规发〔2026〕1号 年度额度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476488" y="422452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 填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8476488" y="486460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汇报前填入 · 运营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5650992"/>
            <a:ext cx="11274552" cy="566928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565099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今天想拿到的三个决定：</a:t>
            </a:r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同意立项 · 批准 V1 预算 · 指定政策接口人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WHY NOW · 为什么是现在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政策窗口：红利就在这里，但有年度额度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2112264" cy="2331720"/>
          </a:xfrm>
          <a:prstGeom prst="roundRect">
            <a:avLst>
              <a:gd name="adj" fmla="val 2597"/>
            </a:avLst>
          </a:prstGeom>
          <a:solidFill>
            <a:srgbClr val="12305B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190195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50%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621792" y="25420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算力补贴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21792" y="29443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≤20 万/年/家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季度兑现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52344" y="1691640"/>
            <a:ext cx="2112264" cy="2331720"/>
          </a:xfrm>
          <a:prstGeom prst="roundRect">
            <a:avLst>
              <a:gd name="adj" fmla="val 2597"/>
            </a:avLst>
          </a:prstGeom>
          <a:solidFill>
            <a:srgbClr val="F3F6FA"/>
          </a:solidFill>
          <a:ln/>
        </p:spPr>
      </p:sp>
      <p:sp>
        <p:nvSpPr>
          <p:cNvPr id="15" name="Text 12"/>
          <p:cNvSpPr/>
          <p:nvPr/>
        </p:nvSpPr>
        <p:spPr>
          <a:xfrm>
            <a:off x="2916936" y="190195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万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2916936" y="25420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创业奖励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2916936" y="29443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符合条件的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直接奖励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47488" y="1691640"/>
            <a:ext cx="2112264" cy="2331720"/>
          </a:xfrm>
          <a:prstGeom prst="roundRect">
            <a:avLst>
              <a:gd name="adj" fmla="val 2597"/>
            </a:avLst>
          </a:prstGeom>
          <a:solidFill>
            <a:srgbClr val="F3F6FA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190195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35%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5212080" y="25420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场景建设补贴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212080" y="29443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≤50 万/年/家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对接政务场景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42632" y="1691640"/>
            <a:ext cx="2112264" cy="2331720"/>
          </a:xfrm>
          <a:prstGeom prst="roundRect">
            <a:avLst>
              <a:gd name="adj" fmla="val 2597"/>
            </a:avLst>
          </a:prstGeom>
          <a:solidFill>
            <a:srgbClr val="F3F6FA"/>
          </a:solidFill>
          <a:ln/>
        </p:spPr>
      </p:sp>
      <p:sp>
        <p:nvSpPr>
          <p:cNvPr id="23" name="Text 20"/>
          <p:cNvSpPr/>
          <p:nvPr/>
        </p:nvSpPr>
        <p:spPr>
          <a:xfrm>
            <a:off x="7507224" y="190195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≤1000万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7507224" y="25420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直接投资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507224" y="29443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平台类项目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可获政府投资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37776" y="1691640"/>
            <a:ext cx="2112264" cy="2331720"/>
          </a:xfrm>
          <a:prstGeom prst="roundRect">
            <a:avLst>
              <a:gd name="adj" fmla="val 2597"/>
            </a:avLst>
          </a:prstGeom>
          <a:solidFill>
            <a:srgbClr val="F3F6FA"/>
          </a:solidFill>
          <a:ln/>
        </p:spPr>
      </p:sp>
      <p:sp>
        <p:nvSpPr>
          <p:cNvPr id="27" name="Text 24"/>
          <p:cNvSpPr/>
          <p:nvPr/>
        </p:nvSpPr>
        <p:spPr>
          <a:xfrm>
            <a:off x="9802368" y="190195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1%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9802368" y="25420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贷款贴息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802368" y="29443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降低融资成本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支持轻资产运营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0" y="4434840"/>
            <a:ext cx="12188952" cy="1170432"/>
          </a:xfrm>
          <a:prstGeom prst="rect">
            <a:avLst/>
          </a:prstGeom>
          <a:solidFill>
            <a:srgbClr val="F7F0E1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4434840"/>
            <a:ext cx="112745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政策有有效期与年度额度——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晚一年做，红利少一年；补贴额度不用，当年作废。</a:t>
            </a:r>
            <a:endParaRPr lang="en-US" sz="1900" dirty="0"/>
          </a:p>
        </p:txBody>
      </p:sp>
      <p:sp>
        <p:nvSpPr>
          <p:cNvPr id="32" name="Text 29"/>
          <p:cNvSpPr/>
          <p:nvPr/>
        </p:nvSpPr>
        <p:spPr>
          <a:xfrm>
            <a:off x="457200" y="58704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来源：大高管规发〔2026〕1号 · 试行期 2026-06 至 2028-06（政策原文见附录 F）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WHY NOW · 为什么是现在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机会空白：全国 OPC 社区都还没做对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33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627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共性：六地都在做「五件套」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048256"/>
            <a:ext cx="1024128" cy="512064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048256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627632" y="2048256"/>
            <a:ext cx="1024128" cy="512064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/>
        </p:spPr>
      </p:sp>
      <p:sp>
        <p:nvSpPr>
          <p:cNvPr id="14" name="Text 11"/>
          <p:cNvSpPr/>
          <p:nvPr/>
        </p:nvSpPr>
        <p:spPr>
          <a:xfrm>
            <a:off x="1627632" y="2048256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活动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798064" y="2048256"/>
            <a:ext cx="1024128" cy="512064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/>
        </p:spPr>
      </p:sp>
      <p:sp>
        <p:nvSpPr>
          <p:cNvPr id="16" name="Text 13"/>
          <p:cNvSpPr/>
          <p:nvPr/>
        </p:nvSpPr>
        <p:spPr>
          <a:xfrm>
            <a:off x="2798064" y="2048256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培训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968496" y="2048256"/>
            <a:ext cx="1024128" cy="512064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/>
        </p:spPr>
      </p:sp>
      <p:sp>
        <p:nvSpPr>
          <p:cNvPr id="18" name="Text 15"/>
          <p:cNvSpPr/>
          <p:nvPr/>
        </p:nvSpPr>
        <p:spPr>
          <a:xfrm>
            <a:off x="3968496" y="2048256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138928" y="2048256"/>
            <a:ext cx="1024128" cy="512064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/>
        </p:spPr>
      </p:sp>
      <p:sp>
        <p:nvSpPr>
          <p:cNvPr id="20" name="Text 17"/>
          <p:cNvSpPr/>
          <p:nvPr/>
        </p:nvSpPr>
        <p:spPr>
          <a:xfrm>
            <a:off x="5138928" y="2048256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社群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7200" y="2743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调研范围：大连 · 北京 · 成都 · 杭州 · 重庆 · 威海（六地·网络调研）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3054096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 426 个 OPC 社区，东北仅 8 个（1.9%）</a:t>
            </a:r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——复旦报告·新华社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3438144"/>
            <a:ext cx="539496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602736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每家都相似：物理空间 + 活动运营 + 培训课程 + 政策申报 + 社群维护。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336792" y="16276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通病：三条没人解决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336792" y="2103120"/>
            <a:ext cx="274320" cy="274320"/>
          </a:xfrm>
          <a:prstGeom prst="rect">
            <a:avLst/>
          </a:prstGeom>
          <a:solidFill>
            <a:srgbClr val="F9ECE8"/>
          </a:solidFill>
          <a:ln/>
        </p:spPr>
      </p:sp>
      <p:sp>
        <p:nvSpPr>
          <p:cNvPr id="27" name="Text 24"/>
          <p:cNvSpPr/>
          <p:nvPr/>
        </p:nvSpPr>
        <p:spPr>
          <a:xfrm>
            <a:off x="6336792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20840" y="2048256"/>
            <a:ext cx="501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重线下轻线上　</a:t>
            </a:r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服务靠场地与活动，规模无法复制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6336792" y="2944368"/>
            <a:ext cx="274320" cy="274320"/>
          </a:xfrm>
          <a:prstGeom prst="rect">
            <a:avLst/>
          </a:prstGeom>
          <a:solidFill>
            <a:srgbClr val="F9ECE8"/>
          </a:solidFill>
          <a:ln/>
        </p:spPr>
      </p:sp>
      <p:sp>
        <p:nvSpPr>
          <p:cNvPr id="30" name="Text 27"/>
          <p:cNvSpPr/>
          <p:nvPr/>
        </p:nvSpPr>
        <p:spPr>
          <a:xfrm>
            <a:off x="6336792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720840" y="2889504"/>
            <a:ext cx="501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无一体化平台　</a:t>
            </a:r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入驻、撮合、结算、信用割裂在线下与表格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6336792" y="3785616"/>
            <a:ext cx="274320" cy="274320"/>
          </a:xfrm>
          <a:prstGeom prst="rect">
            <a:avLst/>
          </a:prstGeom>
          <a:solidFill>
            <a:srgbClr val="F9ECE8"/>
          </a:solidFill>
          <a:ln/>
        </p:spPr>
      </p:sp>
      <p:sp>
        <p:nvSpPr>
          <p:cNvPr id="33" name="Text 30"/>
          <p:cNvSpPr/>
          <p:nvPr/>
        </p:nvSpPr>
        <p:spPr>
          <a:xfrm>
            <a:off x="6336792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720840" y="3730752"/>
            <a:ext cx="501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过程资产零沉淀　</a:t>
            </a:r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订单、履约、信用数据不沉淀，越做越空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0" y="4828032"/>
            <a:ext cx="12188952" cy="10515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11274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不是红海竞争，是空白市场。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不是「我们要做平台」，是这个市场还没人做对过。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WHY NOW · 为什么是现在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不做的代价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33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1508760" y="181965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优质 OPC 被其他园区吸走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08760" y="225856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补贴与场景是流动的，个体户迁移成本极低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508760" y="2825496"/>
            <a:ext cx="59893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0815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1508760" y="311810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补贴额度每年不用即作废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08760" y="35570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算力、场景两类补贴均有年度额度，过期清零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508760" y="4123944"/>
            <a:ext cx="59893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37997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1508760" y="441655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招商竞争力落后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08760" y="485546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成都双流已由园区统筹场景订单（揭榜挂帅派单），此消彼长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001000" y="1783080"/>
            <a:ext cx="3730752" cy="3977640"/>
          </a:xfrm>
          <a:prstGeom prst="rect">
            <a:avLst/>
          </a:prstGeom>
          <a:solidFill>
            <a:srgbClr val="12305B"/>
          </a:solidFill>
          <a:ln/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275320" y="2148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错过的代价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275320" y="27249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B0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大于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275320" y="3310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花钱的代价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8275320" y="4114800"/>
            <a:ext cx="3182112" cy="0"/>
          </a:xfrm>
          <a:prstGeom prst="line">
            <a:avLst/>
          </a:prstGeom>
          <a:noFill/>
          <a:ln w="9525">
            <a:solidFill>
              <a:srgbClr val="3A54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75320" y="431596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窗口期内，每拖一年，红利额度清零一次；而 V1 是分期投入、损失有上界的决策。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5870448"/>
            <a:ext cx="11274552" cy="4572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WHY NOW · 为什么是现在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双边信任，是 OPC 合作的最大成本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572768"/>
            <a:ext cx="5486400" cy="3246120"/>
          </a:xfrm>
          <a:prstGeom prst="roundRect">
            <a:avLst>
              <a:gd name="adj" fmla="val 1972"/>
            </a:avLst>
          </a:prstGeom>
          <a:solidFill>
            <a:srgbClr val="F3F6FA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企业侧 · 发包方的「三不敢」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13232" y="2340864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不敢交　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一人公司抗风险弱——交付烂了、中途放弃，无人负责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13232" y="3182112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7280" y="312724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不敢信　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能力无法证明，每一单都要从零建立信任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13232" y="4023360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97280" y="396849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不敢付　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预付款打给一个人，钱没了没有任何保障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245352" y="1572768"/>
            <a:ext cx="5486400" cy="3246120"/>
          </a:xfrm>
          <a:prstGeom prst="roundRect">
            <a:avLst>
              <a:gd name="adj" fmla="val 1972"/>
            </a:avLst>
          </a:prstGeom>
          <a:solidFill>
            <a:srgbClr val="F3F6FA"/>
          </a:solidFill>
          <a:ln/>
        </p:spPr>
      </p:sp>
      <p:sp>
        <p:nvSpPr>
          <p:cNvPr id="22" name="Text 19"/>
          <p:cNvSpPr/>
          <p:nvPr/>
        </p:nvSpPr>
        <p:spPr>
          <a:xfrm>
            <a:off x="6501384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侧 · 超级个体的「三难」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6501384" y="2340864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6501384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85432" y="22860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接不到　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有技术没渠道——「身边几十个 OPC，真正有获客渠道的不多」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501384" y="3182112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6501384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885432" y="312724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扛不住　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30–90 天账期，一次拖款就压垮现金流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6501384" y="4023360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6501384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85432" y="396849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接错单　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干完拿不到钱、需求无限蔓延、验收被刁难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0" y="5029200"/>
            <a:ext cx="12188952" cy="86868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33" name="Text 30"/>
          <p:cNvSpPr/>
          <p:nvPr/>
        </p:nvSpPr>
        <p:spPr>
          <a:xfrm>
            <a:off x="548640" y="502920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锁死双边的是同一个东西：信任。</a:t>
            </a:r>
            <a:endParaRPr lang="en-US" sz="16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它无法靠「多认识几个人」解决——只能变成基础设施：资质可核验 · 履约有记录 · 资金有托管 · 违约有处置。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457200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问题口径：PRD §1.2 问题陈述 · 一线声音引自复旦团队《2026 中国 OPC 调研报告》（新华社 2026-07）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WHAT · 做什么不做什么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一句话定位与平台全景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33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51790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　</a:t>
            </a:r>
            <a:pPr indent="0" marL="0">
              <a:buNone/>
            </a:pPr>
            <a:r>
              <a:rPr lang="en-US" sz="20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 OPC 超级个体的 AI 原生撮合与信用基础设施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3483864" cy="4572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10312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 · 乙方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52544" y="2103120"/>
            <a:ext cx="3483864" cy="4572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</p:sp>
      <p:sp>
        <p:nvSpPr>
          <p:cNvPr id="14" name="Text 11"/>
          <p:cNvSpPr/>
          <p:nvPr/>
        </p:nvSpPr>
        <p:spPr>
          <a:xfrm>
            <a:off x="4352544" y="210312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企业发包方 · 甲方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247888" y="2103120"/>
            <a:ext cx="3483864" cy="4572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</p:sp>
      <p:sp>
        <p:nvSpPr>
          <p:cNvPr id="16" name="Text 13"/>
          <p:cNvSpPr/>
          <p:nvPr/>
        </p:nvSpPr>
        <p:spPr>
          <a:xfrm>
            <a:off x="8247888" y="210312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· 执行通道（非主体）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57200" y="2798064"/>
            <a:ext cx="267004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身份与入驻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" y="33467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319272" y="2798064"/>
            <a:ext cx="267004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502152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商机与竞标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502152" y="33467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81344" y="2798064"/>
            <a:ext cx="267004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364224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交付与履约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364224" y="33467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Fulfillment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043416" y="2798064"/>
            <a:ext cx="267004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226296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结算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226296" y="33467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Settlement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968496"/>
            <a:ext cx="267004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40080" y="4114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词元市场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40080" y="45171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TokenMarket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319272" y="3968496"/>
            <a:ext cx="267004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502152" y="4114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内容与社区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3502152" y="45171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181344" y="3968496"/>
            <a:ext cx="267004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364224" y="4114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接入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364224" y="45171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AgentGateway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043416" y="3968496"/>
            <a:ext cx="2670048" cy="1024128"/>
          </a:xfrm>
          <a:prstGeom prst="roundRect">
            <a:avLst>
              <a:gd name="adj" fmla="val 4464"/>
            </a:avLst>
          </a:prstGeom>
          <a:solidFill>
            <a:srgbClr val="F7F0E1"/>
          </a:solidFill>
          <a:ln w="19050">
            <a:solidFill>
              <a:srgbClr val="C09A50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9226296" y="4114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信用与认证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9226296" y="45171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Credit · 横切内核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57200" y="5285232"/>
            <a:ext cx="348386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C09A50"/>
            </a:solidFill>
            <a:prstDash val="dash"/>
          </a:ln>
        </p:spPr>
      </p:sp>
      <p:sp>
        <p:nvSpPr>
          <p:cNvPr id="42" name="Text 39"/>
          <p:cNvSpPr/>
          <p:nvPr/>
        </p:nvSpPr>
        <p:spPr>
          <a:xfrm>
            <a:off x="640080" y="52852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合同与履约事实　</a:t>
            </a:r>
            <a:pPr indent="0" marL="0">
              <a:buNone/>
            </a:pPr>
            <a:r>
              <a:rPr lang="en-US" sz="120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预留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352544" y="5285232"/>
            <a:ext cx="348386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C09A50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4535424" y="52852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平台运营后台　</a:t>
            </a:r>
            <a:pPr indent="0" marL="0">
              <a:buNone/>
            </a:pPr>
            <a:r>
              <a:rPr lang="en-US" sz="120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预留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8247888" y="5285232"/>
            <a:ext cx="348386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C09A50"/>
            </a:solidFill>
            <a:prstDash val="dash"/>
          </a:ln>
        </p:spPr>
      </p:sp>
      <p:sp>
        <p:nvSpPr>
          <p:cNvPr id="46" name="Text 43"/>
          <p:cNvSpPr/>
          <p:nvPr/>
        </p:nvSpPr>
        <p:spPr>
          <a:xfrm>
            <a:off x="8430768" y="52852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开放平台　</a:t>
            </a:r>
            <a:pPr indent="0" marL="0">
              <a:buNone/>
            </a:pPr>
            <a:r>
              <a:rPr lang="en-US" sz="120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接口预留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457200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领域模型与聚合根详见附录 A（P25）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WHAT · 做什么不做什么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双层架构：政府投公共品，市场投商业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7406640" cy="1572768"/>
          </a:xfrm>
          <a:prstGeom prst="rect">
            <a:avLst/>
          </a:prstGeom>
          <a:solidFill>
            <a:srgbClr val="12305B"/>
          </a:solidFill>
          <a:ln/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商业外延层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2304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撮合交易 · 词元（Token）交易 · 增值服务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20640" y="18288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市场化运作 · 自负盈亏</a:t>
            </a:r>
            <a:endParaRPr lang="en-US" sz="14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不需要财政持续投入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456432"/>
            <a:ext cx="7406640" cy="0"/>
          </a:xfrm>
          <a:prstGeom prst="line">
            <a:avLst/>
          </a:prstGeom>
          <a:noFill/>
          <a:ln w="12700">
            <a:solidFill>
              <a:srgbClr val="C09A50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57200" y="35295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分层边界：公共规则与商业资金隔离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913632"/>
            <a:ext cx="7406640" cy="1572768"/>
          </a:xfrm>
          <a:prstGeom prst="rect">
            <a:avLst/>
          </a:prstGeom>
          <a:solidFill>
            <a:srgbClr val="F7F0E1"/>
          </a:solidFill>
          <a:ln w="15875">
            <a:solidFill>
              <a:srgbClr val="C09A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40965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公共内核层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3152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入驻 · 认证 · 信用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120640" y="409651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公共品 · 园区背书 · 不盈利</a:t>
            </a:r>
            <a:endParaRPr lang="en-US" sz="14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一次性建设投入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138160" y="1645920"/>
            <a:ext cx="3593592" cy="384048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21" name="Text 18"/>
          <p:cNvSpPr/>
          <p:nvPr/>
        </p:nvSpPr>
        <p:spPr>
          <a:xfrm>
            <a:off x="8366760" y="1847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为什么这样分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366760" y="228600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信用体系一旦盈利，规则的公正性就没人信——体系立刻失效。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财政只投公共品，且是一次性建设投入；商业层由市场养活自己。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366760" y="4443984"/>
            <a:ext cx="313639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46177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财政不养商业，商业不碰规则。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财政的钱只花在公共品上</a:t>
            </a:r>
            <a:pPr indent="0" marL="0">
              <a:buNone/>
            </a:pPr>
            <a:r>
              <a:rPr lang="en-US" sz="17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——直接化解「又要花钱」的顾虑。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WHAT · 做什么不做什么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范围：四大模块，一条闭环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267004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19933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58368" y="2606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入驻申请与审批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58368" y="33101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实名分级 R1–R3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审批流 · 资质核验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45536" y="2788920"/>
            <a:ext cx="173736" cy="365760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15" name="Shape 12"/>
          <p:cNvSpPr/>
          <p:nvPr/>
        </p:nvSpPr>
        <p:spPr>
          <a:xfrm>
            <a:off x="3319272" y="1783080"/>
            <a:ext cx="267004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520440" y="19933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520440" y="2606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发单竞标交付闭环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3520440" y="33101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 · 投标 · 评标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里程碑 · 验收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07608" y="2788920"/>
            <a:ext cx="173736" cy="365760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20" name="Shape 17"/>
          <p:cNvSpPr/>
          <p:nvPr/>
        </p:nvSpPr>
        <p:spPr>
          <a:xfrm>
            <a:off x="6181344" y="1783080"/>
            <a:ext cx="267004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82512" y="19933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382512" y="2606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信用积分与 OPC 认证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382512" y="33101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双模型信用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积分账本 · 认证等级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869680" y="2788920"/>
            <a:ext cx="173736" cy="365760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25" name="Shape 22"/>
          <p:cNvSpPr/>
          <p:nvPr/>
        </p:nvSpPr>
        <p:spPr>
          <a:xfrm>
            <a:off x="9043416" y="1783080"/>
            <a:ext cx="267004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244584" y="19933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9244584" y="2606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交易与账单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9244584" y="33101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统一网关 · 计量计费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分账 · 账单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4572000"/>
            <a:ext cx="12188952" cy="114300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572000"/>
            <a:ext cx="11274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最小可用路径，不是全量。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只验证一条闭环：入驻 → 投标 → 交付 → 结算 → 信用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45720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含交付违约处置机制（FU-12–14，见「为什么不会崩④」）· 各模块详见主 PRD 对应章节。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WHAT · 做什么不做什么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明确「不做清单」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33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57276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「不做清单」比「要做清单」，更能说明我们想清楚了。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457200" y="2414016"/>
            <a:ext cx="310896" cy="310896"/>
          </a:xfrm>
          <a:prstGeom prst="rect">
            <a:avLst/>
          </a:prstGeom>
          <a:solidFill>
            <a:srgbClr val="F9ECE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23317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智能派单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2743200" y="233172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算法派单涉及公平性争议，V2 后再议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61888" y="2414016"/>
            <a:ext cx="0" cy="329184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0488" y="2414016"/>
            <a:ext cx="310896" cy="310896"/>
          </a:xfrm>
          <a:prstGeom prst="rect">
            <a:avLst/>
          </a:prstGeom>
          <a:solidFill>
            <a:srgbClr val="F9ECE8"/>
          </a:solidFill>
          <a:ln/>
        </p:spPr>
      </p:sp>
      <p:sp>
        <p:nvSpPr>
          <p:cNvPr id="17" name="Text 14"/>
          <p:cNvSpPr/>
          <p:nvPr/>
        </p:nvSpPr>
        <p:spPr>
          <a:xfrm>
            <a:off x="6190488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47688" y="23317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抢单模式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476488" y="233172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低价竞逐伤供给质量，与信用体系冲突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493008"/>
            <a:ext cx="310896" cy="310896"/>
          </a:xfrm>
          <a:prstGeom prst="rect">
            <a:avLst/>
          </a:prstGeom>
          <a:solidFill>
            <a:srgbClr val="F9ECE8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14400" y="34107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垫付保理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2743200" y="341071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涉金融业务，需牌照，V1 不碰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961888" y="3493008"/>
            <a:ext cx="0" cy="329184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90488" y="3493008"/>
            <a:ext cx="310896" cy="310896"/>
          </a:xfrm>
          <a:prstGeom prst="rect">
            <a:avLst/>
          </a:prstGeom>
          <a:solidFill>
            <a:srgbClr val="F9ECE8"/>
          </a:solidFill>
          <a:ln/>
        </p:spPr>
      </p:sp>
      <p:sp>
        <p:nvSpPr>
          <p:cNvPr id="26" name="Text 23"/>
          <p:cNvSpPr/>
          <p:nvPr/>
        </p:nvSpPr>
        <p:spPr>
          <a:xfrm>
            <a:off x="6190488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647688" y="34107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VC 凭证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8476488" y="341071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依赖信用数据积累，列入 V2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57200" y="4572000"/>
            <a:ext cx="310896" cy="310896"/>
          </a:xfrm>
          <a:prstGeom prst="rect">
            <a:avLst/>
          </a:prstGeom>
          <a:solidFill>
            <a:srgbClr val="F9ECE8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14400" y="448970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平台总包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2743200" y="448970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 V3 终局方向，不是砍掉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961888" y="4572000"/>
            <a:ext cx="0" cy="329184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90488" y="4572000"/>
            <a:ext cx="310896" cy="310896"/>
          </a:xfrm>
          <a:prstGeom prst="rect">
            <a:avLst/>
          </a:prstGeom>
          <a:solidFill>
            <a:srgbClr val="F9ECE8"/>
          </a:solidFill>
          <a:ln/>
        </p:spPr>
      </p:sp>
      <p:sp>
        <p:nvSpPr>
          <p:cNvPr id="35" name="Text 32"/>
          <p:cNvSpPr/>
          <p:nvPr/>
        </p:nvSpPr>
        <p:spPr>
          <a:xfrm>
            <a:off x="6190488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647688" y="448970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项目管理 SaaS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8476488" y="448970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通用工具市场红海，非平台必需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0" y="5532120"/>
            <a:ext cx="12188952" cy="749808"/>
          </a:xfrm>
          <a:prstGeom prst="rect">
            <a:avLst/>
          </a:prstGeom>
          <a:solidFill>
            <a:srgbClr val="F7F0E1"/>
          </a:solidFill>
          <a:ln/>
        </p:spPr>
      </p:sp>
      <p:sp>
        <p:nvSpPr>
          <p:cNvPr id="39" name="Text 36"/>
          <p:cNvSpPr/>
          <p:nvPr/>
        </p:nvSpPr>
        <p:spPr>
          <a:xfrm>
            <a:off x="457200" y="5532120"/>
            <a:ext cx="11274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政府项目最怕范围失控——V1 边界清晰，每一项「不做」都有明确理由。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HOW · 凭什么能做成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为什么不会崩 ①：信用双模型，防柠檬市场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33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5727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缺陷：只给乙方建信用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975104"/>
            <a:ext cx="4754880" cy="530352"/>
          </a:xfrm>
          <a:prstGeom prst="roundRect">
            <a:avLst>
              <a:gd name="adj" fmla="val 8621"/>
            </a:avLst>
          </a:prstGeom>
          <a:solidFill>
            <a:srgbClr val="F3F6FA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975104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只给乙方（OPC）建信用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670048" y="2523744"/>
            <a:ext cx="292608" cy="192024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734056"/>
            <a:ext cx="4754880" cy="530352"/>
          </a:xfrm>
          <a:prstGeom prst="roundRect">
            <a:avLst>
              <a:gd name="adj" fmla="val 8621"/>
            </a:avLst>
          </a:prstGeom>
          <a:solidFill>
            <a:srgbClr val="F3F6FA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2734056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劣质甲方无成本涌入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670048" y="3282696"/>
            <a:ext cx="292608" cy="192024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3493008"/>
            <a:ext cx="4754880" cy="530352"/>
          </a:xfrm>
          <a:prstGeom prst="roundRect">
            <a:avLst>
              <a:gd name="adj" fmla="val 8621"/>
            </a:avLst>
          </a:prstGeom>
          <a:solidFill>
            <a:srgbClr val="F9ECE8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" y="349300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拖款、验收刁难零代价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2670048" y="4041648"/>
            <a:ext cx="292608" cy="192024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251960"/>
            <a:ext cx="4754880" cy="530352"/>
          </a:xfrm>
          <a:prstGeom prst="roundRect">
            <a:avLst>
              <a:gd name="adj" fmla="val 8621"/>
            </a:avLst>
          </a:prstGeom>
          <a:solidFill>
            <a:srgbClr val="F9ECE8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425196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优质 OPC 被劣币驱逐，平台只剩低端供给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623560" y="15727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方案：对称的甲方信用体系（权重可配置）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23560" y="20116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付款履约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7132320" y="2066544"/>
            <a:ext cx="3291840" cy="292608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25" name="Text 22"/>
          <p:cNvSpPr/>
          <p:nvPr/>
        </p:nvSpPr>
        <p:spPr>
          <a:xfrm>
            <a:off x="10479024" y="20116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35%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623560" y="261518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验收公允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7132320" y="2670048"/>
            <a:ext cx="2351314" cy="292608"/>
          </a:xfrm>
          <a:prstGeom prst="rect">
            <a:avLst/>
          </a:prstGeom>
          <a:solidFill>
            <a:srgbClr val="44679E"/>
          </a:solidFill>
          <a:ln/>
        </p:spPr>
      </p:sp>
      <p:sp>
        <p:nvSpPr>
          <p:cNvPr id="28" name="Text 25"/>
          <p:cNvSpPr/>
          <p:nvPr/>
        </p:nvSpPr>
        <p:spPr>
          <a:xfrm>
            <a:off x="9538498" y="26151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623560" y="321868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需求质量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132320" y="3273552"/>
            <a:ext cx="1881051" cy="292608"/>
          </a:xfrm>
          <a:prstGeom prst="rect">
            <a:avLst/>
          </a:prstGeom>
          <a:solidFill>
            <a:srgbClr val="44679E"/>
          </a:solidFill>
          <a:ln/>
        </p:spPr>
      </p:sp>
      <p:sp>
        <p:nvSpPr>
          <p:cNvPr id="31" name="Text 28"/>
          <p:cNvSpPr/>
          <p:nvPr/>
        </p:nvSpPr>
        <p:spPr>
          <a:xfrm>
            <a:off x="9068235" y="321868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623560" y="38221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主体资质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7132320" y="3877056"/>
            <a:ext cx="940526" cy="292608"/>
          </a:xfrm>
          <a:prstGeom prst="rect">
            <a:avLst/>
          </a:prstGeom>
          <a:solidFill>
            <a:srgbClr val="44679E"/>
          </a:solidFill>
          <a:ln/>
        </p:spPr>
      </p:sp>
      <p:sp>
        <p:nvSpPr>
          <p:cNvPr id="34" name="Text 31"/>
          <p:cNvSpPr/>
          <p:nvPr/>
        </p:nvSpPr>
        <p:spPr>
          <a:xfrm>
            <a:off x="8127710" y="38221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10%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623560" y="44256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配合响应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7132320" y="4480560"/>
            <a:ext cx="940526" cy="292608"/>
          </a:xfrm>
          <a:prstGeom prst="rect">
            <a:avLst/>
          </a:prstGeom>
          <a:solidFill>
            <a:srgbClr val="44679E"/>
          </a:solidFill>
          <a:ln/>
        </p:spPr>
      </p:sp>
      <p:sp>
        <p:nvSpPr>
          <p:cNvPr id="37" name="Text 34"/>
          <p:cNvSpPr/>
          <p:nvPr/>
        </p:nvSpPr>
        <p:spPr>
          <a:xfrm>
            <a:off x="8127710" y="442569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10%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0" y="5257800"/>
            <a:ext cx="12188952" cy="1024128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39" name="Text 36"/>
          <p:cNvSpPr/>
          <p:nvPr/>
        </p:nvSpPr>
        <p:spPr>
          <a:xfrm>
            <a:off x="457200" y="5257800"/>
            <a:ext cx="11274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关键洞察：付款履约维度强依赖资金托管 → 反向论证「V1 应上分账托管」。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「保护 OPC 不是慈善，是保住平台的优质供给。」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HOW · 凭什么能做成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为什么不会崩 ②：合规架构，把红线变成护城河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572768"/>
            <a:ext cx="11274552" cy="868680"/>
          </a:xfrm>
          <a:prstGeom prst="rect">
            <a:avLst/>
          </a:prstGeom>
          <a:solidFill>
            <a:srgbClr val="F9ECE8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157276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红线 · 二清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423160" y="157276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银办发〔2017〕217号：无证从事资金结算（二清）即属违规——行政层面无数额门槛；参照同类司法解释，流水 500 万 / 违法所得 10 万即属「情节严重」（法释〔2019〕1号）。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2670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我们的设计：4 种可插拔结算适配器，路径可随时切换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072384"/>
            <a:ext cx="2697480" cy="969264"/>
          </a:xfrm>
          <a:prstGeom prst="chevron">
            <a:avLst/>
          </a:prstGeom>
          <a:solidFill>
            <a:srgbClr val="E4E9F0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127248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None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无资金环节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1248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纯信息撮合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19272" y="3072384"/>
            <a:ext cx="2697480" cy="969264"/>
          </a:xfrm>
          <a:prstGeom prst="chevron">
            <a:avLst/>
          </a:prstGeom>
          <a:solidFill>
            <a:srgbClr val="E4E9F0"/>
          </a:solidFill>
          <a:ln/>
        </p:spPr>
      </p:sp>
      <p:sp>
        <p:nvSpPr>
          <p:cNvPr id="18" name="Text 15"/>
          <p:cNvSpPr/>
          <p:nvPr/>
        </p:nvSpPr>
        <p:spPr>
          <a:xfrm>
            <a:off x="3703320" y="3127248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NativeSplit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平台内分账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703320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涉二清 · 不采用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81344" y="3072384"/>
            <a:ext cx="2697480" cy="969264"/>
          </a:xfrm>
          <a:prstGeom prst="chevron">
            <a:avLst/>
          </a:prstGeom>
          <a:solidFill>
            <a:srgbClr val="C09A50"/>
          </a:solidFill>
          <a:ln/>
        </p:spPr>
      </p:sp>
      <p:sp>
        <p:nvSpPr>
          <p:cNvPr id="21" name="Text 18"/>
          <p:cNvSpPr/>
          <p:nvPr/>
        </p:nvSpPr>
        <p:spPr>
          <a:xfrm>
            <a:off x="6565392" y="3127248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LicensedSplit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持牌机构分账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65392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默认路径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43416" y="3072384"/>
            <a:ext cx="2697480" cy="969264"/>
          </a:xfrm>
          <a:prstGeom prst="chevron">
            <a:avLst/>
          </a:prstGeom>
          <a:solidFill>
            <a:srgbClr val="12305B"/>
          </a:solidFill>
          <a:ln/>
        </p:spPr>
      </p:sp>
      <p:sp>
        <p:nvSpPr>
          <p:cNvPr id="24" name="Text 21"/>
          <p:cNvSpPr/>
          <p:nvPr/>
        </p:nvSpPr>
        <p:spPr>
          <a:xfrm>
            <a:off x="9427464" y="3127248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BankCustody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银行资金托管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427464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可选升级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449884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只启用持牌及以上路径——资金任何时刻不落入平台自有账户。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4956048"/>
            <a:ext cx="11274552" cy="658368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28" name="Text 25"/>
          <p:cNvSpPr/>
          <p:nvPr/>
        </p:nvSpPr>
        <p:spPr>
          <a:xfrm>
            <a:off x="713232" y="49560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810 号令（涉税信息报送）　</a:t>
            </a:r>
            <a:pPr indent="0" marL="0">
              <a:buNone/>
            </a:pPr>
            <a:r>
              <a:rPr lang="en-US" sz="13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季度报送字段已在数据模型预留 · 四流一致：合同 / 订单 / 资金 / 发票全量留痕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这不是障碍，是护城河</a:t>
            </a:r>
            <a:pPr indent="0" marL="0">
              <a:buNone/>
            </a:pPr>
            <a:r>
              <a:rPr lang="en-US" sz="17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——我们已规避；别人要抄，得重做架构。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HOW · 凭什么能做成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为什么不会崩 ③：AI 原生，面向未来 3 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33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572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双角色用户：人类 + Agent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956816"/>
            <a:ext cx="3017520" cy="512064"/>
          </a:xfrm>
          <a:prstGeom prst="roundRect">
            <a:avLst>
              <a:gd name="adj" fmla="val 10714"/>
            </a:avLst>
          </a:prstGeom>
          <a:solidFill>
            <a:srgbClr val="12305B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95681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人类 · OPC / 发包方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657600" y="1956816"/>
            <a:ext cx="30175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1D447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195681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· 执行通道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7200" y="27432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原生协议栈（面向 Agent 的原生接口）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145536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2644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85800" y="3694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工具调用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0" y="3145536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/>
        </p:spPr>
      </p:sp>
      <p:sp>
        <p:nvSpPr>
          <p:cNvPr id="20" name="Text 17"/>
          <p:cNvSpPr/>
          <p:nvPr/>
        </p:nvSpPr>
        <p:spPr>
          <a:xfrm>
            <a:off x="3886200" y="32644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A2A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3886200" y="3694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多体协作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7200" y="4279392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4398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A2UI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685800" y="4828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界面协议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657600" y="4279392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/>
        </p:spPr>
      </p:sp>
      <p:sp>
        <p:nvSpPr>
          <p:cNvPr id="26" name="Text 23"/>
          <p:cNvSpPr/>
          <p:nvPr/>
        </p:nvSpPr>
        <p:spPr>
          <a:xfrm>
            <a:off x="3886200" y="4398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x402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3886200" y="4828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支付协议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5486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注册 · 授权 · Action 编排 · 审计链路，全部挂接在实名主体之下。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315200" y="1572768"/>
            <a:ext cx="4416552" cy="4462272"/>
          </a:xfrm>
          <a:prstGeom prst="rect">
            <a:avLst/>
          </a:prstGeom>
          <a:solidFill>
            <a:srgbClr val="12305B"/>
          </a:solidFill>
          <a:ln/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589520" y="1810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关键纠偏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589520" y="2231136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是 OPC 的执行臂，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不是责任主体。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7589520" y="3456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承诺主体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9418320" y="3456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1010412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F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 归 OPC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589520" y="3913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交付责任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9418320" y="3913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10104120" y="3913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589520" y="4370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信用归属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9418320" y="43708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10104120" y="43708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589520" y="4828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法律责任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9418320" y="48280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10104120" y="4828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7589520" y="5358384"/>
            <a:ext cx="3867912" cy="0"/>
          </a:xfrm>
          <a:prstGeom prst="line">
            <a:avLst/>
          </a:prstGeom>
          <a:noFill/>
          <a:ln w="9525">
            <a:solidFill>
              <a:srgbClr val="3A548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89520" y="54864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 Agent 建信用 = 给工具建信用，方向就是错的。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457200" y="5943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对接政策话语体系：数字经济的先进性，落在协议与标准上。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HOW · 凭什么能做成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为什么不会崩 ④：交付违约处置，让企业敢下单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1572768"/>
            <a:ext cx="12188952" cy="658368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5727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回答发包方最担心的两个问题：无法按时交付怎么办 · 中途放弃怎么办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原则：让发包方最快止损，让违约变得昂贵；平台全程只发指令、不碰钱。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7200" y="239572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四类违约 · 客观触发器认定（不靠人盯）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7797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逾期交付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874520" y="27797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截止 + 宽限 3 天届满仍无交付物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07992" y="2779776"/>
            <a:ext cx="1527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按日累进·封顶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291840"/>
            <a:ext cx="557784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3284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主动申报终止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874520" y="33284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平台明确申报无法继续履行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07992" y="3328416"/>
            <a:ext cx="1527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违约金减半·措辞较轻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557784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87705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失联违约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874520" y="387705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催告后 7 天无任何平台动作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07992" y="3877056"/>
            <a:ext cx="1527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全额违约金·记录更重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" y="4389120"/>
            <a:ext cx="557784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4256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质量违约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874520" y="44256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同一里程碑打回 ≥3 次且无改进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07992" y="4425696"/>
            <a:ext cx="1527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发包方可发起终止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7200" y="5047488"/>
            <a:ext cx="5577840" cy="822960"/>
          </a:xfrm>
          <a:prstGeom prst="roundRect">
            <a:avLst>
              <a:gd name="adj" fmla="val 6667"/>
            </a:avLst>
          </a:prstGeom>
          <a:solidFill>
            <a:srgbClr val="F7F0E1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504748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激励核心　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主动申报减半 vs 失联全额——让 OPC 尽早披露，发包方越早止损。企业最痛的不是「有人违约」，是「项目烂在原地无人负责」。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00800" y="23957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执行与善后：认定后 T+7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0" y="2779776"/>
            <a:ext cx="365760" cy="36576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894576" y="27797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94576" y="3108960"/>
            <a:ext cx="4837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违约金只对未释放托管余额执行（平台零截留）；已验收未释放款正常释放给 OPC；申诉期资金在持牌机构监管户暂存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400800" y="3566160"/>
            <a:ext cx="365760" cy="36576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36" name="Text 33"/>
          <p:cNvSpPr/>
          <p:nvPr/>
        </p:nvSpPr>
        <p:spPr>
          <a:xfrm>
            <a:off x="64008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894576" y="35661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894576" y="3895344"/>
            <a:ext cx="4837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违约认定书自动生成；大额运营双人复核；申诉期默认 7 天——先裁后扣（大额）/ 先扣后诉（小额）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400800" y="4352544"/>
            <a:ext cx="365760" cy="36576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40" name="Text 37"/>
          <p:cNvSpPr/>
          <p:nvPr/>
        </p:nvSpPr>
        <p:spPr>
          <a:xfrm>
            <a:off x="640080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894576" y="4352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移交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894576" y="4681728"/>
            <a:ext cx="4837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证据封存 + 结构化移交清单（源码 · 源文件 · 账号 · 数据）；移交完成前冻结该 OPC 新投标资格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6400800" y="5138928"/>
            <a:ext cx="365760" cy="36576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44" name="Text 41"/>
          <p:cNvSpPr/>
          <p:nvPr/>
        </p:nvSpPr>
        <p:spPr>
          <a:xfrm>
            <a:off x="6400800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894576" y="51389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重启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894576" y="5468112"/>
            <a:ext cx="4837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发包方一键复制需求重发新单，标注历史终止——让新投标方知情定价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0" y="5961888"/>
            <a:ext cx="12188952" cy="420624"/>
          </a:xfrm>
          <a:prstGeom prst="rect">
            <a:avLst/>
          </a:prstGeom>
          <a:solidFill>
            <a:srgbClr val="F9ECE8"/>
          </a:solidFill>
          <a:ln/>
        </p:spPr>
      </p:sp>
      <p:sp>
        <p:nvSpPr>
          <p:cNvPr id="48" name="Text 45"/>
          <p:cNvSpPr/>
          <p:nvPr/>
        </p:nvSpPr>
        <p:spPr>
          <a:xfrm>
            <a:off x="548640" y="5961888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执行边界 = 未释放托管余额；超出部分由发包方走争议裁决凭证据主张——宁可少赔，必须可执行。（V1 · FU-12–14）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HOW · 凭什么能做成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冷启动路径：先解「鸡生蛋」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3483864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3232" y="204825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13232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场景导入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13232" y="316382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首批订单来自园区 / 政府场景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13232" y="3785616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对齐政策第四条：公共数据开放 + 场景建设 35% 补贴，订单有政策依据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68496" y="3035808"/>
            <a:ext cx="329184" cy="384048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16" name="Shape 13"/>
          <p:cNvSpPr/>
          <p:nvPr/>
        </p:nvSpPr>
        <p:spPr>
          <a:xfrm>
            <a:off x="4352544" y="1828800"/>
            <a:ext cx="3483864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08576" y="204825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4608576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双轨撮合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08576" y="316382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公开竞标为主 + 定向邀标并行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608576" y="3785616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邀标降低早期摩擦，竞标保证价格发现，两条腿走路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863840" y="3035808"/>
            <a:ext cx="329184" cy="384048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22" name="Shape 19"/>
          <p:cNvSpPr/>
          <p:nvPr/>
        </p:nvSpPr>
        <p:spPr>
          <a:xfrm>
            <a:off x="8247888" y="1828800"/>
            <a:ext cx="3483864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503920" y="204825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850392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托管起步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503920" y="316382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 N 单强制资金托管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8503920" y="3785616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用真实履约记录养出信用，N 值随信用等级动态放开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0" y="5029200"/>
            <a:ext cx="12188952" cy="86868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5029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双边市场「先有鸡还是先有蛋」，用政府场景这把钥匙打开。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57200" y="5989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冷启动是 V1 最大风险之一（见风险矩阵）——本页即其缓解方案，也是要申请的政策资源。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HOW · 凭什么能做成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分期路线图：V1 验证 · V2 增强 · V3 终局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3483864" cy="3291840"/>
          </a:xfrm>
          <a:prstGeom prst="roundRect">
            <a:avLst>
              <a:gd name="adj" fmla="val 1944"/>
            </a:avLst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3232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· 闭环验证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13232" y="26060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四大模块全上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跑通「入驻 → 投标 → 交付 → 结算 → 信用」闭环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验证双边市场核心假设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968496" y="3246120"/>
            <a:ext cx="329184" cy="384048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14" name="Shape 11"/>
          <p:cNvSpPr/>
          <p:nvPr/>
        </p:nvSpPr>
        <p:spPr>
          <a:xfrm>
            <a:off x="4352544" y="1783080"/>
            <a:ext cx="3483864" cy="3291840"/>
          </a:xfrm>
          <a:prstGeom prst="roundRect">
            <a:avLst>
              <a:gd name="adj" fmla="val 1944"/>
            </a:avLst>
          </a:prstGeom>
          <a:solidFill>
            <a:srgbClr val="1D4479"/>
          </a:solidFill>
          <a:ln w="12700">
            <a:solidFill>
              <a:srgbClr val="1D4479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08576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V2 · 体系增强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608576" y="26060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订阅计费（FU-16，字段预留）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VC 凭证（可信计算凭证）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反作弊引擎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 规则自动化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典型系统集成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863840" y="3246120"/>
            <a:ext cx="329184" cy="384048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18" name="Shape 15"/>
          <p:cNvSpPr/>
          <p:nvPr/>
        </p:nvSpPr>
        <p:spPr>
          <a:xfrm>
            <a:off x="8247888" y="1783080"/>
            <a:ext cx="3483864" cy="3291840"/>
          </a:xfrm>
          <a:prstGeom prst="roundRect">
            <a:avLst>
              <a:gd name="adj" fmla="val 1944"/>
            </a:avLst>
          </a:prstGeom>
          <a:solidFill>
            <a:srgbClr val="F7F0E1"/>
          </a:solidFill>
          <a:ln w="19050">
            <a:solidFill>
              <a:srgbClr val="C09A50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503920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V3 · 终局模式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8503920" y="26060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平台总包：平台作合同主体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根本规避二清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解两个死结：企业不敢交给一人 · OPC 扛不住账期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503920" y="4526280"/>
            <a:ext cx="29718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9A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03920" y="452628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✓ 前提已验证：双流跑通园区统筹订单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5440680"/>
            <a:ext cx="12188952" cy="8229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544068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V3 是终局想象力，</a:t>
            </a:r>
            <a:pPr indent="0" marL="0">
              <a:buNone/>
            </a:pPr>
            <a:r>
              <a:rPr lang="en-US" sz="1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是今天的决定。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HOW MUCH · 值不值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投入测算框架：四个维度拆分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2670048" cy="324612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6656" y="1938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维度一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6656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按模块拆分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76656" y="276148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个模块的人月工作量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656" y="33649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结算适配器最复杂，工作量占比最高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6656" y="4315968"/>
            <a:ext cx="223113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09A50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76656" y="431596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待填 · 研发 / 财务估算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319272" y="1737360"/>
            <a:ext cx="2670048" cy="324612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538728" y="1938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维度二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538728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按角色拆分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3538728" y="276148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类角色 × 周期（月）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538728" y="33649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含法务合规（外部）与冷启动运营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538728" y="4315968"/>
            <a:ext cx="223113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09A50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3538728" y="431596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待填 · 研发 / 财务估算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181344" y="1737360"/>
            <a:ext cx="2670048" cy="3246120"/>
          </a:xfrm>
          <a:prstGeom prst="roundRect">
            <a:avLst>
              <a:gd name="adj" fmla="val 2055"/>
            </a:avLst>
          </a:prstGeom>
          <a:solidFill>
            <a:srgbClr val="F7F0E1"/>
          </a:solidFill>
          <a:ln w="19050">
            <a:solidFill>
              <a:srgbClr val="C09A50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00800" y="1938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维度三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00800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非人力成本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400800" y="276148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政务云 · 三方服务 · 分账通道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400800" y="33649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等保测评为政府项目硬成本，预算别漏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0" y="4315968"/>
            <a:ext cx="223113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09A50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6400800" y="431596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待填 · 研发 / 财务估算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43416" y="1737360"/>
            <a:ext cx="2670048" cy="324612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9262872" y="1938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维度四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262872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撬动比测算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9262872" y="276148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保守 / 中性 / 乐观 三档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9262872" y="33649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财务口径，见下页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262872" y="4315968"/>
            <a:ext cx="223113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09A50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9262872" y="431596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待填 · 研发 / 财务估算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0" y="5349240"/>
            <a:ext cx="12188952" cy="86868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39" name="Text 36"/>
          <p:cNvSpPr/>
          <p:nvPr/>
        </p:nvSpPr>
        <p:spPr>
          <a:xfrm>
            <a:off x="457200" y="53492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今天先汇报框架与量级；</a:t>
            </a:r>
            <a:pPr indent="0" marL="0">
              <a:buNone/>
            </a:pPr>
            <a:r>
              <a:rPr lang="en-US" sz="16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精确金额由研发与财务估算后提交明细——不当场拍数字。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HOW MUCH · 值不值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撬动比：1 元财政投入，撬动多少社会价值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591056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12305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59105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撬动比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40280" y="159105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=（ 撬动社会资本 ＋ 撬动税收 ）÷ 财政投入</a:t>
            </a:r>
            <a:endParaRPr lang="en-US" sz="1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95728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056632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口径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乐观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财政投入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B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平台建设投入 + 补贴支出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入驻 OPC 数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B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首年 / 三年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撬动社会资本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B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平台 GMV + OPC 营收增量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撬动就业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B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入驻 OPC 数 × 平均带动就业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撬动税收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B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OPC 纳税总额增量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撬动比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B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（社会资本 + 税收）÷ 财政投入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待填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58521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价值不在平台自己赚多少钱，</a:t>
            </a:r>
            <a:pPr indent="0" marL="0">
              <a:buNone/>
            </a:pPr>
            <a:r>
              <a:rPr lang="en-US" sz="16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在撬动多少 OPC 产值与税收。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HOW MUCH · 值不值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关键里程碑：给「不烂尾」的证据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755648" y="2788920"/>
            <a:ext cx="8668512" cy="0"/>
          </a:xfrm>
          <a:prstGeom prst="line">
            <a:avLst/>
          </a:prstGeom>
          <a:noFill/>
          <a:ln w="19050">
            <a:solidFill>
              <a:srgbClr val="D8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55064" y="2688336"/>
            <a:ext cx="201168" cy="201168"/>
          </a:xfrm>
          <a:prstGeom prst="oval">
            <a:avLst/>
          </a:prstGeom>
          <a:solidFill>
            <a:srgbClr val="12305B"/>
          </a:solidFill>
          <a:ln w="19050">
            <a:solidFill>
              <a:srgbClr val="1230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天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57200" y="3200400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310128"/>
            <a:ext cx="2231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 六项决策落地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分账服务商选型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政策接口人对接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44568" y="2688336"/>
            <a:ext cx="201168" cy="201168"/>
          </a:xfrm>
          <a:prstGeom prst="oval">
            <a:avLst/>
          </a:prstGeom>
          <a:solidFill>
            <a:srgbClr val="12305B"/>
          </a:solidFill>
          <a:ln w="19050">
            <a:solidFill>
              <a:srgbClr val="1230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73552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 天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3346704" y="3200400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/>
        </p:spPr>
      </p:sp>
      <p:sp>
        <p:nvSpPr>
          <p:cNvPr id="18" name="Text 15"/>
          <p:cNvSpPr/>
          <p:nvPr/>
        </p:nvSpPr>
        <p:spPr>
          <a:xfrm>
            <a:off x="3529584" y="3310128"/>
            <a:ext cx="2231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详细设计评审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核心链路开工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434072" y="2688336"/>
            <a:ext cx="201168" cy="201168"/>
          </a:xfrm>
          <a:prstGeom prst="oval">
            <a:avLst/>
          </a:prstGeom>
          <a:solidFill>
            <a:srgbClr val="12305B"/>
          </a:solidFill>
          <a:ln w="19050">
            <a:solidFill>
              <a:srgbClr val="1230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63056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天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236208" y="3200400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/>
        </p:spPr>
      </p:sp>
      <p:sp>
        <p:nvSpPr>
          <p:cNvPr id="22" name="Text 19"/>
          <p:cNvSpPr/>
          <p:nvPr/>
        </p:nvSpPr>
        <p:spPr>
          <a:xfrm>
            <a:off x="6419088" y="3310128"/>
            <a:ext cx="2231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可演示的最小闭环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10323576" y="2688336"/>
            <a:ext cx="201168" cy="201168"/>
          </a:xfrm>
          <a:prstGeom prst="oval">
            <a:avLst/>
          </a:prstGeom>
          <a:solidFill>
            <a:srgbClr val="FFFFFF"/>
          </a:solidFill>
          <a:ln w="19050">
            <a:solidFill>
              <a:srgbClr val="C09A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525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上线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9125712" y="3200400"/>
            <a:ext cx="259689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09A50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9308592" y="3310128"/>
            <a:ext cx="22311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时间待研发排期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后正式承诺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57200" y="4892040"/>
            <a:ext cx="3483864" cy="566928"/>
          </a:xfrm>
          <a:prstGeom prst="roundRect">
            <a:avLst>
              <a:gd name="adj" fmla="val 9677"/>
            </a:avLst>
          </a:prstGeom>
          <a:solidFill>
            <a:srgbClr val="F7F0E1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92040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分期投入　</a:t>
            </a:r>
            <a:pPr algn="ctr" indent="0" marL="0">
              <a:buNone/>
            </a:pPr>
            <a:r>
              <a:rPr lang="en-US" sz="135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损失有上界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352544" y="4892040"/>
            <a:ext cx="3483864" cy="566928"/>
          </a:xfrm>
          <a:prstGeom prst="roundRect">
            <a:avLst>
              <a:gd name="adj" fmla="val 9677"/>
            </a:avLst>
          </a:prstGeom>
          <a:solidFill>
            <a:srgbClr val="F7F0E1"/>
          </a:solidFill>
          <a:ln/>
        </p:spPr>
      </p:sp>
      <p:sp>
        <p:nvSpPr>
          <p:cNvPr id="30" name="Text 27"/>
          <p:cNvSpPr/>
          <p:nvPr/>
        </p:nvSpPr>
        <p:spPr>
          <a:xfrm>
            <a:off x="4352544" y="4892040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里程碑可查　</a:t>
            </a:r>
            <a:pPr algn="ctr" indent="0" marL="0">
              <a:buNone/>
            </a:pPr>
            <a:r>
              <a:rPr lang="en-US" sz="135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每阶段有交付物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8247888" y="4892040"/>
            <a:ext cx="3483864" cy="566928"/>
          </a:xfrm>
          <a:prstGeom prst="roundRect">
            <a:avLst>
              <a:gd name="adj" fmla="val 9677"/>
            </a:avLst>
          </a:prstGeom>
          <a:solidFill>
            <a:srgbClr val="F7F0E1"/>
          </a:solidFill>
          <a:ln/>
        </p:spPr>
      </p:sp>
      <p:sp>
        <p:nvSpPr>
          <p:cNvPr id="32" name="Text 29"/>
          <p:cNvSpPr/>
          <p:nvPr/>
        </p:nvSpPr>
        <p:spPr>
          <a:xfrm>
            <a:off x="8247888" y="4892040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范围可逆　</a:t>
            </a:r>
            <a:pPr algn="ctr" indent="0" marL="0">
              <a:buNone/>
            </a:pPr>
            <a:r>
              <a:rPr lang="en-US" sz="135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边界刚性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457200" y="58064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验证核心假设；</a:t>
            </a:r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每一阶段都有可交付、可检查的产物。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RISK · 会不会出事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风险矩阵：最高风险是资金合规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/ 33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770839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风险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缓解措施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资金合规（二清）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最高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B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可插拔结算架构，全部走持牌机构，资金不入平台账户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冷启动（双边市场）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A96A1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B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园区/政府场景导入首批订单；定向邀标；前 N 单强制托管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政策变化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B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双层架构——公共内核不依赖单一政策；政策对接做增量不做依赖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信用体系被刷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B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实名分级 R1–R3 + 反作弊引擎（V2）+ 实控人关联检测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范围蔓延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B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明确 V1 边界与「不做清单」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等保与数据合规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B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政务云部署 + 等保测评（政府项目硬成本，已列入预算）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58064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最高风险不是技术，是资金合规</a:t>
            </a:r>
            <a:pPr indent="0" marL="0">
              <a:buNone/>
            </a:pPr>
            <a:r>
              <a:rPr lang="en-US" sz="15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——我们在架构层已化解（见合规专项页）。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RISK · 会不会出事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合规专项：为什么不会被叫停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55648"/>
            <a:ext cx="402336" cy="402336"/>
          </a:xfrm>
          <a:prstGeom prst="oval">
            <a:avLst/>
          </a:prstGeom>
          <a:solidFill>
            <a:srgbClr val="C09A5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60704" y="166420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二清防控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108960" y="1664208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资金不入平台账户，全部走持牌机构结算 / 托管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060704" y="2350008"/>
            <a:ext cx="1060704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551176"/>
            <a:ext cx="402336" cy="402336"/>
          </a:xfrm>
          <a:prstGeom prst="oval">
            <a:avLst/>
          </a:prstGeom>
          <a:solidFill>
            <a:srgbClr val="C09A50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60704" y="245973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810 号令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108960" y="2459736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季度涉税报送字段已在数据模型预留，可一键导出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060704" y="3145536"/>
            <a:ext cx="1060704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346704"/>
            <a:ext cx="402336" cy="402336"/>
          </a:xfrm>
          <a:prstGeom prst="oval">
            <a:avLst/>
          </a:prstGeom>
          <a:solidFill>
            <a:srgbClr val="C09A50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60704" y="325526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四流一致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108960" y="3255264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 / 订单 / 资金 / 发票全量留痕，可追溯对账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60704" y="3941064"/>
            <a:ext cx="1060704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4142232"/>
            <a:ext cx="402336" cy="402336"/>
          </a:xfrm>
          <a:prstGeom prst="oval">
            <a:avLst/>
          </a:prstGeom>
          <a:solidFill>
            <a:srgbClr val="C09A50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60704" y="405079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预充值余额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108960" y="4050792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现行办法限零售 / 住宿餐饮 / 居民服务三类，平台主业不在其列；属地口径法务确认中（X1）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1060704" y="4736592"/>
            <a:ext cx="1060704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937760"/>
            <a:ext cx="402336" cy="402336"/>
          </a:xfrm>
          <a:prstGeom prst="oval">
            <a:avLst/>
          </a:prstGeom>
          <a:solidFill>
            <a:srgbClr val="C09A50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60704" y="484632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数据合规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3108960" y="4846320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政务云部署 + 等保测评，个人信息保护合规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0" y="5623560"/>
            <a:ext cx="12188952" cy="68580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562356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我们把合规做成了架构，不是做成了补丁。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ASK · 需要您决定什么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本次申请：一笔预算 + 四项政策资源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/ 33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一笔预算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029968"/>
            <a:ext cx="379476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22225">
            <a:solidFill>
              <a:srgbClr val="C09A50"/>
            </a:solidFill>
            <a:prstDash val="dash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230428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申请 V1 建设预算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57200" y="30632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 填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457200" y="406908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 / 财务精确估算后填入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（含政务云与等保测评硬成本）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50657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一次性建设投入 · 公共内核部分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54880" y="16276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四项政策资源（政府 Sponsor 特有）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2029968"/>
            <a:ext cx="475488" cy="475488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413248" y="20299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场景开放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772400" y="2029968"/>
            <a:ext cx="3959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首批订单从园区 / 政府场景导入——解冷启动最大风险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2651760"/>
            <a:ext cx="697687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2807208"/>
            <a:ext cx="475488" cy="475488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2807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413248" y="28072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数据开放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7772400" y="2807208"/>
            <a:ext cx="3959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公共数据开放接口（对齐政策第四条）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54880" y="3429000"/>
            <a:ext cx="697687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54880" y="3584448"/>
            <a:ext cx="475488" cy="475488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28" name="Text 25"/>
          <p:cNvSpPr/>
          <p:nvPr/>
        </p:nvSpPr>
        <p:spPr>
          <a:xfrm>
            <a:off x="4754880" y="3584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5413248" y="35844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补贴对接接口人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7772400" y="3584448"/>
            <a:ext cx="3959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加油包 / 创业奖励的申报对接人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54880" y="4206240"/>
            <a:ext cx="697687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54880" y="4361688"/>
            <a:ext cx="475488" cy="475488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33" name="Text 30"/>
          <p:cNvSpPr/>
          <p:nvPr/>
        </p:nvSpPr>
        <p:spPr>
          <a:xfrm>
            <a:off x="4754880" y="4361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5413248" y="43616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法人主体确认（A1）</a:t>
            </a:r>
            <a:endParaRPr lang="en-US" sz="1550" dirty="0"/>
          </a:p>
        </p:txBody>
      </p:sp>
      <p:sp>
        <p:nvSpPr>
          <p:cNvPr id="35" name="Text 32"/>
          <p:cNvSpPr/>
          <p:nvPr/>
        </p:nvSpPr>
        <p:spPr>
          <a:xfrm>
            <a:off x="7772400" y="4361688"/>
            <a:ext cx="3959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是否有国资 / 园区背景——影响合规路径与分账准入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0" y="5349240"/>
            <a:ext cx="12188952" cy="868680"/>
          </a:xfrm>
          <a:prstGeom prst="rect">
            <a:avLst/>
          </a:prstGeom>
          <a:solidFill>
            <a:srgbClr val="F7F0E1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53492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政府手里最有价值的不只是钱——</a:t>
            </a:r>
            <a:pPr indent="0" marL="0">
              <a:buNone/>
            </a:pPr>
            <a:r>
              <a:rPr lang="en-US" sz="1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是场景与数据。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ASK · 需要您决定什么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需要您拍板的 6 个决策项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 / 33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45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91840"/>
                <a:gridCol w="71597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#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决策项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A1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平台法人主体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B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是否有国资 / 园区背景——影响信用背书与分账服务商准入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D6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撮合资金路径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B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 V1 复杂度与合规成本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E15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强制托管接受度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B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 V1 是否必选资金托管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A5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首批订单从哪来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B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冷启动最大风险（对应场景开放申请）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C1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发包方是谁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B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决定发包方准入与认证流程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6762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X2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分账服务商甄别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B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需法务 / 财务指定责任人与时间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1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5504688"/>
            <a:ext cx="219456" cy="219456"/>
          </a:xfrm>
          <a:prstGeom prst="rect">
            <a:avLst/>
          </a:prstGeom>
          <a:solidFill>
            <a:srgbClr val="F7F0E1"/>
          </a:solidFill>
          <a:ln w="9525">
            <a:solidFill>
              <a:srgbClr val="C09A5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8096" y="5468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底色项需要园区层面协助（A1 · X2）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58704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 6 项定下来，V1 就能开工。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ASK · 需要您决定什么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批准后的 30 / 60 / 90 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3483864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828800"/>
            <a:ext cx="3483864" cy="713232"/>
          </a:xfrm>
          <a:prstGeom prst="roundRect">
            <a:avLst>
              <a:gd name="adj" fmla="val 8974"/>
            </a:avLst>
          </a:prstGeom>
          <a:solidFill>
            <a:srgbClr val="12305B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828800"/>
            <a:ext cx="3483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天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31520" y="27889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 六项决策落地</a:t>
            </a:r>
            <a:endParaRPr lang="en-US" sz="14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分账服务商选型完成</a:t>
            </a:r>
            <a:endParaRPr lang="en-US" sz="14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政策接口人到位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968496" y="3200400"/>
            <a:ext cx="329184" cy="384048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15" name="Shape 12"/>
          <p:cNvSpPr/>
          <p:nvPr/>
        </p:nvSpPr>
        <p:spPr>
          <a:xfrm>
            <a:off x="4352544" y="1828800"/>
            <a:ext cx="3483864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2544" y="1828800"/>
            <a:ext cx="3483864" cy="713232"/>
          </a:xfrm>
          <a:prstGeom prst="roundRect">
            <a:avLst>
              <a:gd name="adj" fmla="val 8974"/>
            </a:avLst>
          </a:prstGeom>
          <a:solidFill>
            <a:srgbClr val="1D4479"/>
          </a:solidFill>
          <a:ln/>
        </p:spPr>
      </p:sp>
      <p:sp>
        <p:nvSpPr>
          <p:cNvPr id="17" name="Text 14"/>
          <p:cNvSpPr/>
          <p:nvPr/>
        </p:nvSpPr>
        <p:spPr>
          <a:xfrm>
            <a:off x="4352544" y="1828800"/>
            <a:ext cx="3483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 天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626864" y="27889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详细设计评审通过</a:t>
            </a:r>
            <a:endParaRPr lang="en-US" sz="14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核心链路开工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863840" y="3200400"/>
            <a:ext cx="329184" cy="384048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20" name="Shape 17"/>
          <p:cNvSpPr/>
          <p:nvPr/>
        </p:nvSpPr>
        <p:spPr>
          <a:xfrm>
            <a:off x="8247888" y="1828800"/>
            <a:ext cx="3483864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47888" y="1828800"/>
            <a:ext cx="3483864" cy="713232"/>
          </a:xfrm>
          <a:prstGeom prst="roundRect">
            <a:avLst>
              <a:gd name="adj" fmla="val 8974"/>
            </a:avLst>
          </a:prstGeom>
          <a:solidFill>
            <a:srgbClr val="C09A50"/>
          </a:solidFill>
          <a:ln/>
        </p:spPr>
      </p:sp>
      <p:sp>
        <p:nvSpPr>
          <p:cNvPr id="22" name="Text 19"/>
          <p:cNvSpPr/>
          <p:nvPr/>
        </p:nvSpPr>
        <p:spPr>
          <a:xfrm>
            <a:off x="8247888" y="1828800"/>
            <a:ext cx="3483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天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522208" y="27889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可演示的最小闭环</a:t>
            </a:r>
            <a:endParaRPr lang="en-US" sz="14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首批园区场景订单导入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0" y="5349240"/>
            <a:ext cx="12188952" cy="82296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53492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从批准到可见成果，只隔 90 天。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APPENDIX · 备查，不主动讲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A · 领域模型与限界上下文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691640"/>
            <a:ext cx="2514600" cy="4069080"/>
          </a:xfrm>
          <a:prstGeom prst="roundRect">
            <a:avLst>
              <a:gd name="adj" fmla="val 2182"/>
            </a:avLst>
          </a:prstGeom>
          <a:solidFill>
            <a:srgbClr val="F7F0E1"/>
          </a:solidFill>
          <a:ln w="19050">
            <a:solidFill>
              <a:srgbClr val="C09A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9019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信用与认证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8368" y="23042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Credit · 横切内核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" y="2743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append-only 积分账本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双评价模型：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乙方 OPC + 甲方发包方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" y="4023360"/>
            <a:ext cx="2103120" cy="0"/>
          </a:xfrm>
          <a:prstGeom prst="line">
            <a:avLst/>
          </a:prstGeom>
          <a:noFill/>
          <a:ln w="9525">
            <a:solidFill>
              <a:srgbClr val="C09A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4169664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其他上下文经领域事件投递贡献记录；Credit 不反向依赖任何业务上下文。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91840" y="1691640"/>
            <a:ext cx="2670048" cy="932688"/>
          </a:xfrm>
          <a:prstGeom prst="roundRect">
            <a:avLst>
              <a:gd name="adj" fmla="val 4902"/>
            </a:avLst>
          </a:prstGeom>
          <a:solidFill>
            <a:srgbClr val="F3F6FA"/>
          </a:solidFill>
          <a:ln/>
        </p:spPr>
      </p:sp>
      <p:sp>
        <p:nvSpPr>
          <p:cNvPr id="17" name="Text 14"/>
          <p:cNvSpPr/>
          <p:nvPr/>
        </p:nvSpPr>
        <p:spPr>
          <a:xfrm>
            <a:off x="3474720" y="176479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身份与入驻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Identity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153912" y="1691640"/>
            <a:ext cx="2670048" cy="932688"/>
          </a:xfrm>
          <a:prstGeom prst="roundRect">
            <a:avLst>
              <a:gd name="adj" fmla="val 4902"/>
            </a:avLst>
          </a:prstGeom>
          <a:solidFill>
            <a:srgbClr val="F3F6FA"/>
          </a:solidFill>
          <a:ln/>
        </p:spPr>
      </p:sp>
      <p:sp>
        <p:nvSpPr>
          <p:cNvPr id="19" name="Text 16"/>
          <p:cNvSpPr/>
          <p:nvPr/>
        </p:nvSpPr>
        <p:spPr>
          <a:xfrm>
            <a:off x="6336792" y="176479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商机与竞标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Sourcing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9015984" y="1691640"/>
            <a:ext cx="2670048" cy="932688"/>
          </a:xfrm>
          <a:prstGeom prst="roundRect">
            <a:avLst>
              <a:gd name="adj" fmla="val 4902"/>
            </a:avLst>
          </a:prstGeom>
          <a:solidFill>
            <a:srgbClr val="F3F6FA"/>
          </a:solidFill>
          <a:ln/>
        </p:spPr>
      </p:sp>
      <p:sp>
        <p:nvSpPr>
          <p:cNvPr id="21" name="Text 18"/>
          <p:cNvSpPr/>
          <p:nvPr/>
        </p:nvSpPr>
        <p:spPr>
          <a:xfrm>
            <a:off x="9198864" y="176479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交付与履约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Fulfillment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3291840" y="2770632"/>
            <a:ext cx="2670048" cy="932688"/>
          </a:xfrm>
          <a:prstGeom prst="roundRect">
            <a:avLst>
              <a:gd name="adj" fmla="val 4902"/>
            </a:avLst>
          </a:prstGeom>
          <a:solidFill>
            <a:srgbClr val="F3F6FA"/>
          </a:solidFill>
          <a:ln/>
        </p:spPr>
      </p:sp>
      <p:sp>
        <p:nvSpPr>
          <p:cNvPr id="23" name="Text 20"/>
          <p:cNvSpPr/>
          <p:nvPr/>
        </p:nvSpPr>
        <p:spPr>
          <a:xfrm>
            <a:off x="3474720" y="2843784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结算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Settlement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6153912" y="2770632"/>
            <a:ext cx="2670048" cy="932688"/>
          </a:xfrm>
          <a:prstGeom prst="roundRect">
            <a:avLst>
              <a:gd name="adj" fmla="val 4902"/>
            </a:avLst>
          </a:prstGeom>
          <a:solidFill>
            <a:srgbClr val="F3F6FA"/>
          </a:solidFill>
          <a:ln/>
        </p:spPr>
      </p:sp>
      <p:sp>
        <p:nvSpPr>
          <p:cNvPr id="25" name="Text 22"/>
          <p:cNvSpPr/>
          <p:nvPr/>
        </p:nvSpPr>
        <p:spPr>
          <a:xfrm>
            <a:off x="6336792" y="2843784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词元市场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TokenMarket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9015984" y="2770632"/>
            <a:ext cx="2670048" cy="932688"/>
          </a:xfrm>
          <a:prstGeom prst="roundRect">
            <a:avLst>
              <a:gd name="adj" fmla="val 4902"/>
            </a:avLst>
          </a:prstGeom>
          <a:solidFill>
            <a:srgbClr val="F3F6FA"/>
          </a:solidFill>
          <a:ln/>
        </p:spPr>
      </p:sp>
      <p:sp>
        <p:nvSpPr>
          <p:cNvPr id="27" name="Text 24"/>
          <p:cNvSpPr/>
          <p:nvPr/>
        </p:nvSpPr>
        <p:spPr>
          <a:xfrm>
            <a:off x="9198864" y="2843784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内容与社区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3291840" y="3849624"/>
            <a:ext cx="2670048" cy="932688"/>
          </a:xfrm>
          <a:prstGeom prst="roundRect">
            <a:avLst>
              <a:gd name="adj" fmla="val 4902"/>
            </a:avLst>
          </a:prstGeom>
          <a:solidFill>
            <a:srgbClr val="F3F6FA"/>
          </a:solidFill>
          <a:ln/>
        </p:spPr>
      </p:sp>
      <p:sp>
        <p:nvSpPr>
          <p:cNvPr id="29" name="Text 26"/>
          <p:cNvSpPr/>
          <p:nvPr/>
        </p:nvSpPr>
        <p:spPr>
          <a:xfrm>
            <a:off x="3474720" y="392277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接入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AgentGateway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6153912" y="3849624"/>
            <a:ext cx="2670048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5875">
            <a:solidFill>
              <a:srgbClr val="C09A50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6336792" y="392277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合同与履约事实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Contract · 预留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9015984" y="3849624"/>
            <a:ext cx="2670048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5875">
            <a:solidFill>
              <a:srgbClr val="C09A50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9198864" y="392277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平台运营后台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OpsConsole · 预留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3291840" y="4928616"/>
            <a:ext cx="2670048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5875">
            <a:solidFill>
              <a:srgbClr val="C09A50"/>
            </a:solidFill>
            <a:prstDash val="dash"/>
          </a:ln>
        </p:spPr>
      </p:sp>
      <p:sp>
        <p:nvSpPr>
          <p:cNvPr id="35" name="Text 32"/>
          <p:cNvSpPr/>
          <p:nvPr/>
        </p:nvSpPr>
        <p:spPr>
          <a:xfrm>
            <a:off x="3474720" y="50017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开放平台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OpenPlatform · 接口预留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6172200" y="4928616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开放平台为接口预留：API / Webhook / SSO。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虚线框为预留上下文——OpsConsole 将承载生态看板 · 企业画像 · 行业趋势（PRD §4.7）。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5720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聚合根、领域事件与状态机详见主 PRD §3。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APPENDIX · 备查，不主动讲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B · 信用体系架构①：共用底座与乙方模型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 / 33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554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三层结构 · 乙方 / 甲方两套模型共用同一套计算引擎与账本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938528"/>
            <a:ext cx="3483864" cy="1060704"/>
          </a:xfrm>
          <a:prstGeom prst="roundRect">
            <a:avLst>
              <a:gd name="adj" fmla="val 5172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011680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积分 Points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append-only 行为账本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纯荣誉型：不可兑换 · 不可转让 · 不可提现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968496" y="2304288"/>
            <a:ext cx="329184" cy="329184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14" name="Shape 11"/>
          <p:cNvSpPr/>
          <p:nvPr/>
        </p:nvSpPr>
        <p:spPr>
          <a:xfrm>
            <a:off x="4352544" y="1938528"/>
            <a:ext cx="3483864" cy="1060704"/>
          </a:xfrm>
          <a:prstGeom prst="roundRect">
            <a:avLst>
              <a:gd name="adj" fmla="val 5172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53712" y="2011680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信用分 CreditScore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0–1000 分 · 算法公开可解释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积分加权 + 180 天半衰期时间衰减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863840" y="2304288"/>
            <a:ext cx="329184" cy="329184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17" name="Shape 14"/>
          <p:cNvSpPr/>
          <p:nvPr/>
        </p:nvSpPr>
        <p:spPr>
          <a:xfrm>
            <a:off x="8247888" y="1938528"/>
            <a:ext cx="3483864" cy="1060704"/>
          </a:xfrm>
          <a:prstGeom prst="roundRect">
            <a:avLst>
              <a:gd name="adj" fmla="val 5172"/>
            </a:avLst>
          </a:prstGeom>
          <a:solidFill>
            <a:srgbClr val="F7F0E1"/>
          </a:solidFill>
          <a:ln w="15875">
            <a:solidFill>
              <a:srgbClr val="C09A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49056" y="2011680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认证等级 Tier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T0 待认证 → T4 白金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信用分 + 实名 + 资质分档 · 定期重算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" y="3200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乙方（OPC）积分权重：初期 → 成熟期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3566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交付履约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874520" y="3611880"/>
            <a:ext cx="1097280" cy="118872"/>
          </a:xfrm>
          <a:prstGeom prst="rect">
            <a:avLst/>
          </a:prstGeom>
          <a:solidFill>
            <a:srgbClr val="44679E"/>
          </a:solidFill>
          <a:ln/>
        </p:spPr>
      </p:sp>
      <p:sp>
        <p:nvSpPr>
          <p:cNvPr id="22" name="Shape 19"/>
          <p:cNvSpPr/>
          <p:nvPr/>
        </p:nvSpPr>
        <p:spPr>
          <a:xfrm>
            <a:off x="1874520" y="3767328"/>
            <a:ext cx="2011680" cy="118872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23" name="Text 20"/>
          <p:cNvSpPr/>
          <p:nvPr/>
        </p:nvSpPr>
        <p:spPr>
          <a:xfrm>
            <a:off x="4041648" y="3566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30% → 55%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39867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学习成长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874520" y="4032504"/>
            <a:ext cx="1097280" cy="118872"/>
          </a:xfrm>
          <a:prstGeom prst="rect">
            <a:avLst/>
          </a:prstGeom>
          <a:solidFill>
            <a:srgbClr val="44679E"/>
          </a:solidFill>
          <a:ln/>
        </p:spPr>
      </p:sp>
      <p:sp>
        <p:nvSpPr>
          <p:cNvPr id="26" name="Shape 23"/>
          <p:cNvSpPr/>
          <p:nvPr/>
        </p:nvSpPr>
        <p:spPr>
          <a:xfrm>
            <a:off x="1874520" y="4187952"/>
            <a:ext cx="548640" cy="118872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27" name="Text 24"/>
          <p:cNvSpPr/>
          <p:nvPr/>
        </p:nvSpPr>
        <p:spPr>
          <a:xfrm>
            <a:off x="4041648" y="39867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30% → 15%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44074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社区贡献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874520" y="4453128"/>
            <a:ext cx="914400" cy="118872"/>
          </a:xfrm>
          <a:prstGeom prst="rect">
            <a:avLst/>
          </a:prstGeom>
          <a:solidFill>
            <a:srgbClr val="44679E"/>
          </a:solidFill>
          <a:ln/>
        </p:spPr>
      </p:sp>
      <p:sp>
        <p:nvSpPr>
          <p:cNvPr id="30" name="Shape 27"/>
          <p:cNvSpPr/>
          <p:nvPr/>
        </p:nvSpPr>
        <p:spPr>
          <a:xfrm>
            <a:off x="1874520" y="4608576"/>
            <a:ext cx="548640" cy="118872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1" name="Text 28"/>
          <p:cNvSpPr/>
          <p:nvPr/>
        </p:nvSpPr>
        <p:spPr>
          <a:xfrm>
            <a:off x="4041648" y="44074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 → 15%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57200" y="48280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生态贡献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1874520" y="4873752"/>
            <a:ext cx="548640" cy="118872"/>
          </a:xfrm>
          <a:prstGeom prst="rect">
            <a:avLst/>
          </a:prstGeom>
          <a:solidFill>
            <a:srgbClr val="44679E"/>
          </a:solidFill>
          <a:ln/>
        </p:spPr>
      </p:sp>
      <p:sp>
        <p:nvSpPr>
          <p:cNvPr id="34" name="Shape 31"/>
          <p:cNvSpPr/>
          <p:nvPr/>
        </p:nvSpPr>
        <p:spPr>
          <a:xfrm>
            <a:off x="1874520" y="5029200"/>
            <a:ext cx="548640" cy="118872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5" name="Text 32"/>
          <p:cNvSpPr/>
          <p:nvPr/>
        </p:nvSpPr>
        <p:spPr>
          <a:xfrm>
            <a:off x="4041648" y="4828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15% → 15%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457200" y="528523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67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初期　</a:t>
            </a:r>
            <a:pPr indent="0" marL="0">
              <a:buNone/>
            </a:pPr>
            <a:r>
              <a:rPr lang="en-US" sz="1100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■</a:t>
            </a:r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成熟期——权重配置化，向交付履约倾斜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555955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负面项（违约 · 逾期 · 刷分）独立扣分；账本只追加、永不改写历史。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492240" y="32004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权益映射：驱动力是权限与身份，不是兑换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492240" y="3675888"/>
            <a:ext cx="128016" cy="128016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40" name="Text 37"/>
          <p:cNvSpPr/>
          <p:nvPr/>
        </p:nvSpPr>
        <p:spPr>
          <a:xfrm>
            <a:off x="6748272" y="35844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接单上限：2 / 5 / 10 / 不限（T1→T4）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6492240" y="4041648"/>
            <a:ext cx="128016" cy="128016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42" name="Text 39"/>
          <p:cNvSpPr/>
          <p:nvPr/>
        </p:nvSpPr>
        <p:spPr>
          <a:xfrm>
            <a:off x="6748272" y="39502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单笔金额：1 万 / 10 万 / 50 万 / 不限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6492240" y="4407408"/>
            <a:ext cx="128016" cy="128016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44" name="Text 41"/>
          <p:cNvSpPr/>
          <p:nvPr/>
        </p:nvSpPr>
        <p:spPr>
          <a:xfrm>
            <a:off x="6748272" y="43159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竞标排序加权 +5% ~ +20%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6492240" y="4773168"/>
            <a:ext cx="128016" cy="128016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46" name="Text 43"/>
          <p:cNvSpPr/>
          <p:nvPr/>
        </p:nvSpPr>
        <p:spPr>
          <a:xfrm>
            <a:off x="6748272" y="46817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平台佣金 −10% ~ −30%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6492240" y="5138928"/>
            <a:ext cx="128016" cy="128016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48" name="Text 45"/>
          <p:cNvSpPr/>
          <p:nvPr/>
        </p:nvSpPr>
        <p:spPr>
          <a:xfrm>
            <a:off x="6748272" y="50474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L3 自动化资格（T3+）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6492240" y="5504688"/>
            <a:ext cx="128016" cy="128016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50" name="Text 47"/>
          <p:cNvSpPr/>
          <p:nvPr/>
        </p:nvSpPr>
        <p:spPr>
          <a:xfrm>
            <a:off x="6748272" y="54132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政策推荐名额 · 10 万奖励申报（T3+）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0" y="5925312"/>
            <a:ext cx="12188952" cy="45720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52" name="Text 49"/>
          <p:cNvSpPr/>
          <p:nvPr/>
        </p:nvSpPr>
        <p:spPr>
          <a:xfrm>
            <a:off x="548640" y="592531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女巫抵抗　</a:t>
            </a:r>
            <a:pPr indent="0" marL="0">
              <a:buNone/>
            </a:pPr>
            <a:r>
              <a:rPr lang="en-US" sz="12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实名分级 R1 手机+人脸 → R2 +工商核验（可投标）→ R3 +银行四要素（大额 · 结算 · T3+）　｜　反作弊：设备/IP/收款账户关联 · 互评环 · 异常投标 · 贡献图谱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APPENDIX · 备查，不主动讲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C · 信用体系架构②：甲方模型与博弈设计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554480"/>
            <a:ext cx="11274552" cy="54864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为什么必须有：</a:t>
            </a:r>
            <a:pPr indent="0" marL="0">
              <a:buNone/>
            </a:pPr>
            <a:r>
              <a:rPr lang="en-US" sz="13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只给乙方建信用是「不对称缺陷」——劣质甲方涌入，优质 OPC 被劣币驱逐（论证见正文 P10）。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23042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甲方信用五维：权重集中在付款与验收——OPC 最关心的两件事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7066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付款履约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481328" y="2752344"/>
            <a:ext cx="2834640" cy="237744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15" name="Text 12"/>
          <p:cNvSpPr/>
          <p:nvPr/>
        </p:nvSpPr>
        <p:spPr>
          <a:xfrm>
            <a:off x="4407408" y="270662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" y="30358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按时付款率 · 逾期天数 · 确认时长（数据来自结算链路）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33284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验收公允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481328" y="3374136"/>
            <a:ext cx="2024743" cy="237744"/>
          </a:xfrm>
          <a:prstGeom prst="rect">
            <a:avLst/>
          </a:prstGeom>
          <a:solidFill>
            <a:srgbClr val="44679E"/>
          </a:solidFill>
          <a:ln/>
        </p:spPr>
      </p:sp>
      <p:sp>
        <p:nvSpPr>
          <p:cNvPr id="19" name="Text 16"/>
          <p:cNvSpPr/>
          <p:nvPr/>
        </p:nvSpPr>
        <p:spPr>
          <a:xfrm>
            <a:off x="3597511" y="332841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" y="36576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一次通过率 · 争议败诉率（最客观指标，单列展示）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39502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需求质量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1481328" y="3995928"/>
            <a:ext cx="1619794" cy="237744"/>
          </a:xfrm>
          <a:prstGeom prst="rect">
            <a:avLst/>
          </a:prstGeom>
          <a:solidFill>
            <a:srgbClr val="44679E"/>
          </a:solidFill>
          <a:ln/>
        </p:spPr>
      </p:sp>
      <p:sp>
        <p:nvSpPr>
          <p:cNvPr id="23" name="Text 20"/>
          <p:cNvSpPr/>
          <p:nvPr/>
        </p:nvSpPr>
        <p:spPr>
          <a:xfrm>
            <a:off x="3192562" y="39502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" y="427939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需求文档完整度 · 变更次数与幅度 · 流标率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5720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主体资质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481328" y="4617720"/>
            <a:ext cx="809897" cy="237744"/>
          </a:xfrm>
          <a:prstGeom prst="rect">
            <a:avLst/>
          </a:prstGeom>
          <a:solidFill>
            <a:srgbClr val="44679E"/>
          </a:solidFill>
          <a:ln/>
        </p:spPr>
      </p:sp>
      <p:sp>
        <p:nvSpPr>
          <p:cNvPr id="27" name="Text 24"/>
          <p:cNvSpPr/>
          <p:nvPr/>
        </p:nvSpPr>
        <p:spPr>
          <a:xfrm>
            <a:off x="2382665" y="4572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10%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" y="490118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工商核验 · 司法失信 · 实控人关联（外部数据）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51937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配合响应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1481328" y="5239512"/>
            <a:ext cx="809897" cy="237744"/>
          </a:xfrm>
          <a:prstGeom prst="rect">
            <a:avLst/>
          </a:prstGeom>
          <a:solidFill>
            <a:srgbClr val="44679E"/>
          </a:solidFill>
          <a:ln/>
        </p:spPr>
      </p:sp>
      <p:sp>
        <p:nvSpPr>
          <p:cNvPr id="31" name="Text 28"/>
          <p:cNvSpPr/>
          <p:nvPr/>
        </p:nvSpPr>
        <p:spPr>
          <a:xfrm>
            <a:off x="2382665" y="51937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10%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12064" y="552297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响应时长 · 资料 / 权限提供准时率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406640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D44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冷启动：甲方没有历史数据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406640" y="2724912"/>
            <a:ext cx="365760" cy="36576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35" name="Text 32"/>
          <p:cNvSpPr/>
          <p:nvPr/>
        </p:nvSpPr>
        <p:spPr>
          <a:xfrm>
            <a:off x="740664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900416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注册即出初始信用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900416" y="305409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工商 / 失信被执行 / 裁判文书等外部数据，无需等交易发生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406640" y="3657600"/>
            <a:ext cx="365760" cy="36576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39" name="Text 36"/>
          <p:cNvSpPr/>
          <p:nvPr/>
        </p:nvSpPr>
        <p:spPr>
          <a:xfrm>
            <a:off x="74066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900416" y="3639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 N 单强制托管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900416" y="398678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 3 单：里程碑托管 + 预付款——用资金约束替代信用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7406640" y="4590288"/>
            <a:ext cx="365760" cy="365760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43" name="Text 40"/>
          <p:cNvSpPr/>
          <p:nvPr/>
        </p:nvSpPr>
        <p:spPr>
          <a:xfrm>
            <a:off x="7406640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900416" y="4572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无记录则明示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7900416" y="491947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订单页标注「暂无履约记录」，避免 OPC 误判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406640" y="5504688"/>
            <a:ext cx="4325112" cy="749808"/>
          </a:xfrm>
          <a:prstGeom prst="rect">
            <a:avLst/>
          </a:prstGeom>
          <a:solidFill>
            <a:srgbClr val="F7F0E1"/>
          </a:solidFill>
          <a:ln/>
        </p:spPr>
      </p:sp>
      <p:sp>
        <p:nvSpPr>
          <p:cNvPr id="47" name="Text 44"/>
          <p:cNvSpPr/>
          <p:nvPr/>
        </p:nvSpPr>
        <p:spPr>
          <a:xfrm>
            <a:off x="7571232" y="550468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付款维度数据只能来自结算链路——资金托管同时是甲方信用的数据基础设施。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57200" y="59893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博弈缓解　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双向盲评（双方提交后才互见）· 评价聚合不暴露单条 · 只统计真实资金流已完结订单 · 信用先只影响排序、不硬限发单 · 私下交易异常检测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APPENDIX · 备查，不主动讲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D · 积分体系与考核机制的关系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572768"/>
            <a:ext cx="5486400" cy="2212848"/>
          </a:xfrm>
          <a:prstGeom prst="roundRect">
            <a:avLst>
              <a:gd name="adj" fmla="val 2893"/>
            </a:avLst>
          </a:prstGeom>
          <a:solidFill>
            <a:srgbClr val="F3F6FA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1755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积分体系 —— 过程考核 · 连续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13232" y="2231136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行为实时记分，信用分定期重算（CR-01–03）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T0–T4 等级与权益实时联动（CR-05 / 06）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回答「现在干得怎么样」——管激励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容忍波动：分数衰减降级即惩罚，不清退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486400" cy="2212848"/>
          </a:xfrm>
          <a:prstGeom prst="roundRect">
            <a:avLst>
              <a:gd name="adj" fmla="val 2893"/>
            </a:avLst>
          </a:prstGeom>
          <a:solidFill>
            <a:srgbClr val="F7F0E1"/>
          </a:solidFill>
          <a:ln/>
        </p:spPr>
      </p:sp>
      <p:sp>
        <p:nvSpPr>
          <p:cNvPr id="14" name="Text 11"/>
          <p:cNvSpPr/>
          <p:nvPr/>
        </p:nvSpPr>
        <p:spPr>
          <a:xfrm>
            <a:off x="6501384" y="1755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年审 / 考核 —— 资格复核 · 周期性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501384" y="2231136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年度复核资格，指标与阈值可配（ID-10）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程序动作：通知 · 申诉期 · 公示 · 冷却期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回答「还适不适合留在社区」——管治理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动作重且不可逆，必须程序正义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0" y="3968496"/>
            <a:ext cx="12188952" cy="603504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968496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　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考核以信用分为主输入，叠加活跃度与合规负面（僵尸入驻 · 投诉成立 · 工商异常）；单一分数源，不建并行打分。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47365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" y="473659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单一分数源　</a:t>
            </a:r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两套分数必然互相矛盾——规则公信力崩塌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7200" y="51389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51389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处置分层　</a:t>
            </a:r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限权 / 限单由降级（CR-05）自然实现；考核独有「限期整改 / 清退」两个重动作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57200" y="5541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4400" y="554126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节奏分工　</a:t>
            </a:r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起信用自动升降级即事实上的持续考核；制度性考核（ID-10–13）V2 上线，前置 B3 拍板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0" y="5961888"/>
            <a:ext cx="12188952" cy="420624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5961888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例：半年不接单 → 分数自然衰减、权益收缩（激励惩罚，不清退）｜刷分 → 扣分降级｜涉违法 → 跳过周期，直接条件清退（ID-13）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APPENDIX · 备查，不主动讲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E · 六地 OPC 社区调研对比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 / 33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2834640"/>
                <a:gridCol w="2788920"/>
                <a:gridCol w="27889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调研城市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共性「五件套」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线上一体化平台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过程资产沉淀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大连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9A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北京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9A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成都（双流）*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9A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杭州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9A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重庆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9A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305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威海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9A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E3B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5120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 成都双流芯谷：园区以场景清单 + 揭榜挂帅向 OPC 派单（订单组织先行，总包主体待核实）｜● 具备　✕ 空白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0" y="5532120"/>
            <a:ext cx="12188952" cy="777240"/>
          </a:xfrm>
          <a:prstGeom prst="rect">
            <a:avLst/>
          </a:prstGeom>
          <a:solidFill>
            <a:srgbClr val="F7F0E1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55321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五件套大家都有，三大通病没人解——全国线上一体化平台仍是空白。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APPENDIX · 备查，不主动讲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F · 合规与政策依据清单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5541264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19385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银办发〔2017〕217号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239572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《关于进一步加强无证经营支付业务整治工作的通知》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299923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二清认定与处置依据——平台资金路径设计的红线来源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90488" y="1737360"/>
            <a:ext cx="5541264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64808" y="19385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810 号令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64808" y="239572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《互联网平台企业涉税信息报送规定》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64808" y="299923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平台涉税信息季度报送义务——报送字段已按口径预留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5541264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" y="4041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《单用途商业预付卡管理办法（试行）》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1520" y="44988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商务部令 2012 年第 9 号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" y="510235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预充值余额口径参照——已列入法务确认（X1）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90488" y="3840480"/>
            <a:ext cx="5541264" cy="1920240"/>
          </a:xfrm>
          <a:prstGeom prst="roundRect">
            <a:avLst>
              <a:gd name="adj" fmla="val 3333"/>
            </a:avLst>
          </a:prstGeom>
          <a:solidFill>
            <a:srgbClr val="F7F0E1"/>
          </a:solidFill>
          <a:ln w="19050">
            <a:solidFill>
              <a:srgbClr val="C09A50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464808" y="4041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大高管规发〔2026〕1号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64808" y="44988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大连高新区 OPC 扶持政策 · 核心条款十条（试行至 2028-06）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64808" y="510235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算力补贴 50% · 创业奖励 10 万 · 场景补贴 35%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 ≤1000 万 · 贴息 1% · 免费工位 ≥3 个月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59436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以上为汇报涉及口径的依据索引；完整法务 / 税务 / 支付合规意见见 X1–X10 外部确认清单。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APPENDIX · 备查，不主动讲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G · 运营后台与数据服务规划（V2）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1572768"/>
            <a:ext cx="12188952" cy="603504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57276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　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园区侧的「风控抓手 + 数据出口」，不是项目管理 SaaS（J4）——V1 数据地基已留全，V2 摘果子。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2340864"/>
            <a:ext cx="2670048" cy="254203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" y="25054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58368" y="29992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生态看板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58368" y="3602736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入驻转化漏斗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撮合 GMV · 成交率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分行业分布 · 政策兑现进度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对标成功指标自动出数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319272" y="2340864"/>
            <a:ext cx="2670048" cy="254203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520440" y="25054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520440" y="29992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双侧企业画像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3520440" y="3602736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OPC：能力 + 信用 + 履约聚合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发包方：SO-11 完整档案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叠加工商 / 司法外部核验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支撑对外查询 API（CR-07）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81344" y="2340864"/>
            <a:ext cx="2670048" cy="254203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82512" y="25054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82512" y="29992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行业趋势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382512" y="3602736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匿名汇总（D17 决议）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交付时效中位数 · 争议率分布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分行业订单量与成交率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园区季度报告导出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043416" y="2340864"/>
            <a:ext cx="2670048" cy="254203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88900" dist="25400" dir="3600000">
              <a:srgbClr val="1A2A44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244584" y="25054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244584" y="29992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财务统计与撬动比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244584" y="3602736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OPC：收入 · 账期 · Token 成本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园区：撬动比三档自动出数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对接补贴申报台账（TK-08）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口径待 X10 财务确认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0" y="5047488"/>
            <a:ext cx="12188952" cy="475488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" y="5047488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隐私边界（D17）　</a:t>
            </a:r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 / 财务 / 合规全局可见；OPC 与甲方互不可见对方完整项目列表；OPC 可见自己的全部 + 匿名汇总趋势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0" y="5596128"/>
            <a:ext cx="12188952" cy="475488"/>
          </a:xfrm>
          <a:prstGeom prst="rect">
            <a:avLst/>
          </a:prstGeom>
          <a:solidFill>
            <a:srgbClr val="F7F0E1"/>
          </a:solidFill>
          <a:ln/>
        </p:spPr>
      </p:sp>
      <p:sp>
        <p:nvSpPr>
          <p:cNvPr id="31" name="Text 28"/>
          <p:cNvSpPr/>
          <p:nvPr/>
        </p:nvSpPr>
        <p:spPr>
          <a:xfrm>
            <a:off x="548640" y="5596128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运营治理　</a:t>
            </a:r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异常预警（逾期 / 验收超时 / 资金异动）· 敏感操作双签（J1 / J3）· 年审考核与清退（ID-10–13，与附录 D 联动）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 Sponsor：财政投入换来「可度量的生态」——</a:t>
            </a:r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撬动比不靠手工报数，平台自动出数。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02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40233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APPENDIX · 备查，不主动讲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H · OPC 收费方式覆盖与计费路线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OPC 超级个体社区平台 · 立项汇报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2952" y="6492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 / 33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1572768"/>
            <a:ext cx="12188952" cy="658368"/>
          </a:xfrm>
          <a:prstGeom prst="rect">
            <a:avLst/>
          </a:prstGeom>
          <a:solidFill>
            <a:srgbClr val="12305B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5727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计费原语范围（D19）：V1 只做项目制——与冷启动订单结构一致；订阅制等新计费方式字段预留、按市场节奏落地。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平台必须覆盖，但不一次做全。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395728"/>
            <a:ext cx="2670048" cy="2176272"/>
          </a:xfrm>
          <a:prstGeom prst="roundRect">
            <a:avLst>
              <a:gd name="adj" fmla="val 2521"/>
            </a:avLst>
          </a:prstGeom>
          <a:solidFill>
            <a:srgbClr val="12305B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· 当前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58368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项目制计费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8368" y="3255264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里程碑分期 + 分档结算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与政府采购场景一致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 OPC 主流形态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145536" y="3291840"/>
            <a:ext cx="173736" cy="329184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17" name="Shape 14"/>
          <p:cNvSpPr/>
          <p:nvPr/>
        </p:nvSpPr>
        <p:spPr>
          <a:xfrm>
            <a:off x="3319272" y="2395728"/>
            <a:ext cx="2670048" cy="2176272"/>
          </a:xfrm>
          <a:prstGeom prst="roundRect">
            <a:avLst>
              <a:gd name="adj" fmla="val 2521"/>
            </a:avLst>
          </a:prstGeom>
          <a:solidFill>
            <a:srgbClr val="1D4479"/>
          </a:solidFill>
          <a:ln/>
        </p:spPr>
      </p:sp>
      <p:sp>
        <p:nvSpPr>
          <p:cNvPr id="18" name="Text 15"/>
          <p:cNvSpPr/>
          <p:nvPr/>
        </p:nvSpPr>
        <p:spPr>
          <a:xfrm>
            <a:off x="3520440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V2 · FU-16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5204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订阅制（B 端）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520440" y="3255264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周期扣费 · 自动续费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按周期释放 · 订阅争议规则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续费率纳入信用维度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V1 已预留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07608" y="3291840"/>
            <a:ext cx="173736" cy="329184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22" name="Shape 19"/>
          <p:cNvSpPr/>
          <p:nvPr/>
        </p:nvSpPr>
        <p:spPr>
          <a:xfrm>
            <a:off x="6181344" y="2395728"/>
            <a:ext cx="2670048" cy="2176272"/>
          </a:xfrm>
          <a:prstGeom prst="roundRect">
            <a:avLst>
              <a:gd name="adj" fmla="val 2521"/>
            </a:avLst>
          </a:prstGeom>
          <a:solidFill>
            <a:srgbClr val="F3F6FA"/>
          </a:solidFill>
          <a:ln/>
        </p:spPr>
      </p:sp>
      <p:sp>
        <p:nvSpPr>
          <p:cNvPr id="23" name="Text 20"/>
          <p:cNvSpPr/>
          <p:nvPr/>
        </p:nvSpPr>
        <p:spPr>
          <a:xfrm>
            <a:off x="6382512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V2 · 轻量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382512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数字商品 / 按次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382512" y="3255264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 · Prompt 包等可复用资产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按量为可选计费单位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复用 Token 计量能力（TK-04）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869680" y="3291840"/>
            <a:ext cx="173736" cy="329184"/>
          </a:xfrm>
          <a:prstGeom prst="rightArrow">
            <a:avLst/>
          </a:prstGeom>
          <a:solidFill>
            <a:srgbClr val="C09A50"/>
          </a:solidFill>
          <a:ln/>
        </p:spPr>
      </p:sp>
      <p:sp>
        <p:nvSpPr>
          <p:cNvPr id="27" name="Shape 24"/>
          <p:cNvSpPr/>
          <p:nvPr/>
        </p:nvSpPr>
        <p:spPr>
          <a:xfrm>
            <a:off x="9043416" y="2395728"/>
            <a:ext cx="2670048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5875">
            <a:solidFill>
              <a:srgbClr val="C09A50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9244584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V2 末 / V3 · 再议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244584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驻场 / 人天 / 人月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9244584" y="3255264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订单类型模板扩展</a:t>
            </a:r>
            <a:endParaRPr lang="en-US" sz="1150" dirty="0"/>
          </a:p>
          <a:p>
            <a:pPr marL="127000" indent="-1270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视市场实践决定是否纳入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0" y="4736592"/>
            <a:ext cx="12188952" cy="621792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4736592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3B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明确不做　</a:t>
            </a:r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佣金抽成 / 带货分销 · C 端知识付费漏斗 · 广告模式——不偏离撮合与信用主航道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0" y="5431536"/>
            <a:ext cx="12188952" cy="621792"/>
          </a:xfrm>
          <a:prstGeom prst="rect">
            <a:avLst/>
          </a:prstGeom>
          <a:solidFill>
            <a:srgbClr val="F7F0E1"/>
          </a:solidFill>
          <a:ln/>
        </p:spPr>
      </p:sp>
      <p:sp>
        <p:nvSpPr>
          <p:cNvPr id="34" name="Text 31"/>
          <p:cNvSpPr/>
          <p:nvPr/>
        </p:nvSpPr>
        <p:spPr>
          <a:xfrm>
            <a:off x="548640" y="5431536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6762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落地前置　</a:t>
            </a:r>
            <a:pPr indent="0" marL="0">
              <a:buNone/>
            </a:pPr>
            <a:r>
              <a:rPr lang="en-US" sz="1250" dirty="0">
                <a:solidFill>
                  <a:srgbClr val="222B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X14 自动续费合规口径（法务）· C6 订阅争议规则随 FU-16 拍板 · 分账服务商须支持「代扣 + 分账」组合（X2 甄别标准）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市场依据：WAIC《2026 中国 OPC 深度洞察报告》——两口径并述：提及 75 次 / 团队占比 44%（占比 ≠ 收入结构）· 初步核实（★★）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solidFill>
            <a:srgbClr val="C09A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87552" y="14173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恳 请 批 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今天需要您的三个决定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3383280" cy="0"/>
          </a:xfrm>
          <a:prstGeom prst="line">
            <a:avLst/>
          </a:prstGeom>
          <a:noFill/>
          <a:ln w="12700">
            <a:solidFill>
              <a:srgbClr val="3A54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同意项目立项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352544" y="3520440"/>
            <a:ext cx="3383280" cy="0"/>
          </a:xfrm>
          <a:prstGeom prst="line">
            <a:avLst/>
          </a:prstGeom>
          <a:noFill/>
          <a:ln w="12700">
            <a:solidFill>
              <a:srgbClr val="3A54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2544" y="37033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352544" y="4434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批准 V1 建设预算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47888" y="3520440"/>
            <a:ext cx="3383280" cy="0"/>
          </a:xfrm>
          <a:prstGeom prst="line">
            <a:avLst/>
          </a:prstGeom>
          <a:noFill/>
          <a:ln w="12700">
            <a:solidFill>
              <a:srgbClr val="3A54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37033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9A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47888" y="4434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指定政策接口人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720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三项定下来，30 天内交出第一份可检查的进展。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943600"/>
            <a:ext cx="11274552" cy="0"/>
          </a:xfrm>
          <a:prstGeom prst="line">
            <a:avLst/>
          </a:prstGeom>
          <a:noFill/>
          <a:ln w="9525">
            <a:solidFill>
              <a:srgbClr val="3A54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089904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2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谢谢，敬请指正 ｜ OPC 超级个体社区平台 · 立项汇报 · 2026 年 9 月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OPC 超级个体社区平台 · 立项汇报</dc:title>
  <dc:subject>Sponsor 汇报 · 政府/园区管委会</dc:subject>
  <dc:creator>OPC 项目组</dc:creator>
  <cp:lastModifiedBy>OPC 项目组</cp:lastModifiedBy>
  <cp:revision>1</cp:revision>
  <dcterms:created xsi:type="dcterms:W3CDTF">2026-09-05T17:37:55Z</dcterms:created>
  <dcterms:modified xsi:type="dcterms:W3CDTF">2026-09-05T17:37:55Z</dcterms:modified>
</cp:coreProperties>
</file>